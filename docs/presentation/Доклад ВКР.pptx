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1" r:id="rId3"/>
    <p:sldId id="279" r:id="rId4"/>
    <p:sldId id="275" r:id="rId5"/>
    <p:sldId id="285" r:id="rId6"/>
    <p:sldId id="277" r:id="rId7"/>
    <p:sldId id="272" r:id="rId8"/>
    <p:sldId id="276" r:id="rId9"/>
    <p:sldId id="278" r:id="rId10"/>
    <p:sldId id="281" r:id="rId11"/>
    <p:sldId id="267" r:id="rId12"/>
    <p:sldId id="284" r:id="rId13"/>
    <p:sldId id="269" r:id="rId14"/>
    <p:sldId id="270" r:id="rId15"/>
    <p:sldId id="264" r:id="rId16"/>
    <p:sldId id="263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53BA0E-9A65-B83C-DB5D-6199526436F8}" name="Andrey Afonasyev" initials="AA" userId="88c577a660043f5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C4"/>
    <a:srgbClr val="00425C"/>
    <a:srgbClr val="006F9B"/>
    <a:srgbClr val="0097D1"/>
    <a:srgbClr val="005474"/>
    <a:srgbClr val="005C7F"/>
    <a:srgbClr val="004F6D"/>
    <a:srgbClr val="003349"/>
    <a:srgbClr val="006389"/>
    <a:srgbClr val="007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49"/>
    <p:restoredTop sz="94620"/>
  </p:normalViewPr>
  <p:slideViewPr>
    <p:cSldViewPr snapToGrid="0">
      <p:cViewPr>
        <p:scale>
          <a:sx n="180" d="100"/>
          <a:sy n="180" d="100"/>
        </p:scale>
        <p:origin x="123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CF830-0C0D-D51D-196C-20C4FDF81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24B2E2-C632-6ED2-A589-BAABC4F7D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9F1819-5662-43BE-F86A-A7E0F7A7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691202-5D8B-9013-4641-39B8CEF2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8BD355-64BC-8C99-A24E-1769EA91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95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99572-7D47-D894-5867-6E8DD26A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FDEDE2-C885-803E-5385-940BDA130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7C2155-708B-D31C-6A1A-AE262413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625A3-08DA-A80C-5738-B976A09F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2ADA96-C636-252A-9B34-C3F14D64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20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D61A9-3E9E-4584-5582-B31A24D0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8427C4-B1E3-29A1-65DB-AA70E93F2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1B2663-86CE-9712-AAE6-81572842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9FA038-7959-7FA7-AD93-C31DD804A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5734D3-CDD6-4C39-F2D1-954BD7BF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10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CAABA-1050-AB9A-65FC-215724AF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47B5F0-4ED4-3972-8814-CFF64A3E5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7E682E-3019-872D-A6A1-E14F591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97A268-8B3C-09AB-410D-7505CE72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C949B9-0340-6F4B-E927-7A8BF3DE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590474-D6A7-4657-83C5-531EFC09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95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6CA57-271C-D56A-BEBD-4A879468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63DFD2-F847-32C2-665A-2A2BCC5BC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D7B4E6-BDBE-B11E-0E8C-0539BF1A3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0E139B5-316D-1B50-0F25-4E44F63BA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E2CA95-9FA4-5927-9A00-FBE621599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AF02A0-F198-CF65-A0DA-86408407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568B00F-D943-6906-4F2C-4E5E9E6B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7ECA20-4FD7-3C46-1EB8-8063F096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64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C079A-BC53-0A4F-C6D6-D954B392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CD9DD4D-0C0D-1410-26A4-2BD8A834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40DB1C-F48D-282F-F6D0-0A9719AF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F0C689-C48A-C0BF-FACC-F3E6A373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62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ED2F559-990F-4BC8-9181-62CA0AF4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4C9CDBE-9765-F3B3-CC92-CD92C56B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F67848-AE86-4383-08AF-4E53E63C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920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7EEE5-3F7A-C51E-3EB9-1E1D6C76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602E1E-D652-FEC7-5B8B-B4467DB37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AC319C-8D40-3E89-C789-A8AC2D18E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7714C8-3AD7-2FDB-E2C9-1860C607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6D3B0B-470C-3EC7-925B-57269041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ACB307-7BD1-E1AF-319B-DB7E2AB0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81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07992-A2B1-E2DA-F6F2-15C9E4B7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45B7D8-7635-C311-5556-F46E99D00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8404FA-54B0-5CA8-5FA3-490FF5BB9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A2F9B3-11A2-D069-B1EF-3540752F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D5CA36-9DE2-C24D-6253-8FE775EF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E7250B-CE1A-0F33-B570-CC51370F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7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F3C72-8793-0A84-AD28-FAB9E7FE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8AB234-59F3-F819-D7DD-BE86C5ABB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57E60B-ADD8-917D-4E65-EF4AD89F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90870C-7E4F-5678-700D-B9AA0B2D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2A964F-3E25-6F66-7595-998BF805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2555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F0B113B-A3B1-9DF8-A599-8917041FB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C462A3-88EF-05C0-61A6-0D5CDB07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01CB8F-F9AA-AB88-7759-4CBFF1BB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81AEEC-3F59-4497-4110-42A80D31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58F51D-69B9-7AEE-D041-619BA1C0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399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rgbClr val="002737"/>
            </a:gs>
            <a:gs pos="99000">
              <a:srgbClr val="00445E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3781C-1418-9D36-42CB-61667F7A8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35C08C-0CBA-2E0B-5E46-EC75150E2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5EE2B4-0D88-5BEC-4EAF-FB9F74F95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DD8B6-5FAA-BB4C-A702-D2ECF9BC3762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05CB16-006D-46CA-3718-8A231BE8D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400887-E9A3-2756-C2FE-7A99CBCEC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9E312-EF85-FF4F-9DA2-EB7C11159A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0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4.wdp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Графика, снимок экрана, символ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340ABC-D98F-9482-59F2-220CA7552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2409" y="-994144"/>
            <a:ext cx="8846288" cy="8846288"/>
          </a:xfrm>
          <a:prstGeom prst="rect">
            <a:avLst/>
          </a:prstGeom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21D089-111E-E808-0E71-1C50984768EB}"/>
              </a:ext>
            </a:extLst>
          </p:cNvPr>
          <p:cNvSpPr txBox="1">
            <a:spLocks/>
          </p:cNvSpPr>
          <p:nvPr/>
        </p:nvSpPr>
        <p:spPr>
          <a:xfrm>
            <a:off x="3700131" y="1951672"/>
            <a:ext cx="7995684" cy="147732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ru-RU" sz="9600" b="1" dirty="0">
                <a:solidFill>
                  <a:srgbClr val="00AEEF"/>
                </a:solidFill>
              </a:rPr>
              <a:t>ПРОЕКТОРИЯ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F11F11-FC7D-1B5C-128C-8B6CBAE89BE6}"/>
              </a:ext>
            </a:extLst>
          </p:cNvPr>
          <p:cNvSpPr txBox="1"/>
          <p:nvPr/>
        </p:nvSpPr>
        <p:spPr>
          <a:xfrm>
            <a:off x="3577709" y="3344841"/>
            <a:ext cx="8240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Проектирование веб-системы поддержки формирования </a:t>
            </a:r>
            <a:r>
              <a:rPr lang="ru-RU" sz="2400" dirty="0" err="1">
                <a:solidFill>
                  <a:schemeClr val="bg1"/>
                </a:solidFill>
              </a:rPr>
              <a:t>межподразделенческих</a:t>
            </a:r>
            <a:r>
              <a:rPr lang="ru-RU" sz="2400" dirty="0">
                <a:solidFill>
                  <a:schemeClr val="bg1"/>
                </a:solidFill>
              </a:rPr>
              <a:t> университетских проектов по текстовым запросам индустрии</a:t>
            </a:r>
          </a:p>
          <a:p>
            <a:pPr algn="ctr"/>
            <a:endParaRPr lang="ru-RU" sz="2400" dirty="0">
              <a:solidFill>
                <a:schemeClr val="bg1"/>
              </a:solidFill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D62B68F3-2955-CD12-49FB-39D1231E4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610247"/>
              </p:ext>
            </p:extLst>
          </p:nvPr>
        </p:nvGraphicFramePr>
        <p:xfrm>
          <a:off x="3766287" y="4779542"/>
          <a:ext cx="7929528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4764">
                  <a:extLst>
                    <a:ext uri="{9D8B030D-6E8A-4147-A177-3AD203B41FA5}">
                      <a16:colId xmlns:a16="http://schemas.microsoft.com/office/drawing/2014/main" val="2793458332"/>
                    </a:ext>
                  </a:extLst>
                </a:gridCol>
                <a:gridCol w="3964764">
                  <a:extLst>
                    <a:ext uri="{9D8B030D-6E8A-4147-A177-3AD203B41FA5}">
                      <a16:colId xmlns:a16="http://schemas.microsoft.com/office/drawing/2014/main" val="4243746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Выполнили обучающиеся 2 курса, МОиАИС-24 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err="1">
                          <a:solidFill>
                            <a:schemeClr val="bg1"/>
                          </a:solidFill>
                        </a:rPr>
                        <a:t>Афонасьев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 А.Д</a:t>
                      </a:r>
                    </a:p>
                    <a:p>
                      <a:pPr algn="r"/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Фень А.И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754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Научный руководитель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Шевляков А.Н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7940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40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91BD7F86-8D08-E1EC-44BB-A31D48B14D30}"/>
              </a:ext>
            </a:extLst>
          </p:cNvPr>
          <p:cNvSpPr txBox="1"/>
          <p:nvPr/>
        </p:nvSpPr>
        <p:spPr>
          <a:xfrm>
            <a:off x="1130457" y="-1626618"/>
            <a:ext cx="99564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Цель проекта: ускорить обработку текстовых запросов от индустриальных заказчиков и упростить запуск </a:t>
            </a:r>
            <a:r>
              <a:rPr lang="ru-RU" sz="2800" b="1" dirty="0" err="1">
                <a:solidFill>
                  <a:schemeClr val="bg1"/>
                </a:solidFill>
              </a:rPr>
              <a:t>межподразделенческих</a:t>
            </a:r>
            <a:r>
              <a:rPr lang="ru-RU" sz="2800" b="1" dirty="0">
                <a:solidFill>
                  <a:schemeClr val="bg1"/>
                </a:solidFill>
              </a:rPr>
              <a:t> проектов внутри вуза».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2EA259-5148-65A9-2125-E1AAA2514A44}"/>
              </a:ext>
            </a:extLst>
          </p:cNvPr>
          <p:cNvSpPr txBox="1"/>
          <p:nvPr/>
        </p:nvSpPr>
        <p:spPr>
          <a:xfrm>
            <a:off x="2073645" y="358545"/>
            <a:ext cx="80701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За период практики мы с нуля разработали </a:t>
            </a:r>
            <a:r>
              <a:rPr lang="en" sz="2800" b="1" dirty="0">
                <a:solidFill>
                  <a:schemeClr val="bg1"/>
                </a:solidFill>
              </a:rPr>
              <a:t>MVP-</a:t>
            </a:r>
            <a:r>
              <a:rPr lang="ru-RU" sz="2800" b="1" dirty="0">
                <a:solidFill>
                  <a:schemeClr val="bg1"/>
                </a:solidFill>
              </a:rPr>
              <a:t>систему “</a:t>
            </a:r>
            <a:r>
              <a:rPr lang="ru-RU" sz="2800" b="1" dirty="0" err="1">
                <a:solidFill>
                  <a:schemeClr val="bg1"/>
                </a:solidFill>
              </a:rPr>
              <a:t>Проектория</a:t>
            </a:r>
            <a:r>
              <a:rPr lang="ru-RU" sz="2800" b="1" dirty="0">
                <a:solidFill>
                  <a:schemeClr val="bg1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1192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1174-280A-DD0A-A44C-4A5689A7B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D6AF4AA-26B0-3CFA-5FBB-3A552D7C15CA}"/>
              </a:ext>
            </a:extLst>
          </p:cNvPr>
          <p:cNvSpPr txBox="1"/>
          <p:nvPr/>
        </p:nvSpPr>
        <p:spPr>
          <a:xfrm>
            <a:off x="1130457" y="1074509"/>
            <a:ext cx="995648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Цель проекта: ускорить обработку текстовых запросов от индустриальных заказчиков и упростить запуск </a:t>
            </a:r>
            <a:r>
              <a:rPr lang="ru-RU" sz="2800" b="1" dirty="0" err="1">
                <a:solidFill>
                  <a:schemeClr val="bg1"/>
                </a:solidFill>
              </a:rPr>
              <a:t>межподразделенческих</a:t>
            </a:r>
            <a:r>
              <a:rPr lang="ru-RU" sz="2800" b="1" dirty="0">
                <a:solidFill>
                  <a:schemeClr val="bg1"/>
                </a:solidFill>
              </a:rPr>
              <a:t> проектов внутри вуза».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293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A3C8-ECB4-6D2F-E5F4-F2C391492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A0C5D7A-F22E-89B8-E703-A72F13A31C38}"/>
              </a:ext>
            </a:extLst>
          </p:cNvPr>
          <p:cNvSpPr txBox="1"/>
          <p:nvPr/>
        </p:nvSpPr>
        <p:spPr>
          <a:xfrm>
            <a:off x="1703424" y="4413363"/>
            <a:ext cx="87851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ru-RU" sz="2800" b="1" dirty="0">
                <a:solidFill>
                  <a:schemeClr val="bg1"/>
                </a:solidFill>
                <a:effectLst/>
                <a:latin typeface="+mj-lt"/>
              </a:rPr>
              <a:t>До автоматизации стенограммы и текстовые запросы обрабатывались вручную, что занимало много времени и зависело от конкретного сотрудника.</a:t>
            </a:r>
          </a:p>
        </p:txBody>
      </p:sp>
    </p:spTree>
    <p:extLst>
      <p:ext uri="{BB962C8B-B14F-4D97-AF65-F5344CB8AC3E}">
        <p14:creationId xmlns:p14="http://schemas.microsoft.com/office/powerpoint/2010/main" val="3224464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C800719D-3753-4C2D-ED2E-5587763B9103}"/>
              </a:ext>
            </a:extLst>
          </p:cNvPr>
          <p:cNvSpPr/>
          <p:nvPr/>
        </p:nvSpPr>
        <p:spPr>
          <a:xfrm rot="5400000">
            <a:off x="5243204" y="884234"/>
            <a:ext cx="2160000" cy="2160000"/>
          </a:xfrm>
          <a:custGeom>
            <a:avLst/>
            <a:gdLst>
              <a:gd name="csX0" fmla="*/ 420008 w 2519998"/>
              <a:gd name="csY0" fmla="*/ 0 h 2519998"/>
              <a:gd name="csX1" fmla="*/ 2519998 w 2519998"/>
              <a:gd name="csY1" fmla="*/ 0 h 2519998"/>
              <a:gd name="csX2" fmla="*/ 0 w 2519998"/>
              <a:gd name="csY2" fmla="*/ 2519998 h 2519998"/>
              <a:gd name="csX3" fmla="*/ 0 w 2519998"/>
              <a:gd name="csY3" fmla="*/ 420008 h 2519998"/>
              <a:gd name="csX4" fmla="*/ 420008 w 2519998"/>
              <a:gd name="csY4" fmla="*/ 0 h 251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19998" h="2519998">
                <a:moveTo>
                  <a:pt x="420008" y="0"/>
                </a:moveTo>
                <a:lnTo>
                  <a:pt x="2519998" y="0"/>
                </a:lnTo>
                <a:lnTo>
                  <a:pt x="0" y="2519998"/>
                </a:lnTo>
                <a:lnTo>
                  <a:pt x="0" y="420008"/>
                </a:lnTo>
                <a:cubicBezTo>
                  <a:pt x="0" y="188044"/>
                  <a:pt x="188044" y="0"/>
                  <a:pt x="420008" y="0"/>
                </a:cubicBezTo>
                <a:close/>
              </a:path>
            </a:pathLst>
          </a:custGeom>
          <a:solidFill>
            <a:srgbClr val="003349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AD18B9C6-5920-FC85-0BEA-CEB6891345BE}"/>
              </a:ext>
            </a:extLst>
          </p:cNvPr>
          <p:cNvSpPr/>
          <p:nvPr/>
        </p:nvSpPr>
        <p:spPr>
          <a:xfrm rot="8100000">
            <a:off x="6273100" y="1513929"/>
            <a:ext cx="2160000" cy="2160000"/>
          </a:xfrm>
          <a:custGeom>
            <a:avLst/>
            <a:gdLst>
              <a:gd name="csX0" fmla="*/ 420008 w 2519998"/>
              <a:gd name="csY0" fmla="*/ 0 h 2519998"/>
              <a:gd name="csX1" fmla="*/ 2519998 w 2519998"/>
              <a:gd name="csY1" fmla="*/ 0 h 2519998"/>
              <a:gd name="csX2" fmla="*/ 0 w 2519998"/>
              <a:gd name="csY2" fmla="*/ 2519998 h 2519998"/>
              <a:gd name="csX3" fmla="*/ 0 w 2519998"/>
              <a:gd name="csY3" fmla="*/ 420008 h 2519998"/>
              <a:gd name="csX4" fmla="*/ 420008 w 2519998"/>
              <a:gd name="csY4" fmla="*/ 0 h 251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19998" h="2519998">
                <a:moveTo>
                  <a:pt x="420008" y="0"/>
                </a:moveTo>
                <a:lnTo>
                  <a:pt x="2519998" y="0"/>
                </a:lnTo>
                <a:lnTo>
                  <a:pt x="0" y="2519998"/>
                </a:lnTo>
                <a:lnTo>
                  <a:pt x="0" y="420008"/>
                </a:lnTo>
                <a:cubicBezTo>
                  <a:pt x="0" y="188044"/>
                  <a:pt x="188044" y="0"/>
                  <a:pt x="420008" y="0"/>
                </a:cubicBezTo>
                <a:close/>
              </a:path>
            </a:pathLst>
          </a:custGeom>
          <a:solidFill>
            <a:srgbClr val="00425C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D3D4492B-F693-A4A8-EEAA-26D91FAE6D2B}"/>
              </a:ext>
            </a:extLst>
          </p:cNvPr>
          <p:cNvSpPr/>
          <p:nvPr/>
        </p:nvSpPr>
        <p:spPr>
          <a:xfrm rot="10800000">
            <a:off x="6562717" y="2593929"/>
            <a:ext cx="2160000" cy="2160000"/>
          </a:xfrm>
          <a:custGeom>
            <a:avLst/>
            <a:gdLst>
              <a:gd name="csX0" fmla="*/ 420008 w 2519998"/>
              <a:gd name="csY0" fmla="*/ 0 h 2519998"/>
              <a:gd name="csX1" fmla="*/ 2519998 w 2519998"/>
              <a:gd name="csY1" fmla="*/ 0 h 2519998"/>
              <a:gd name="csX2" fmla="*/ 0 w 2519998"/>
              <a:gd name="csY2" fmla="*/ 2519998 h 2519998"/>
              <a:gd name="csX3" fmla="*/ 0 w 2519998"/>
              <a:gd name="csY3" fmla="*/ 420008 h 2519998"/>
              <a:gd name="csX4" fmla="*/ 420008 w 2519998"/>
              <a:gd name="csY4" fmla="*/ 0 h 251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19998" h="2519998">
                <a:moveTo>
                  <a:pt x="420008" y="0"/>
                </a:moveTo>
                <a:lnTo>
                  <a:pt x="2519998" y="0"/>
                </a:lnTo>
                <a:lnTo>
                  <a:pt x="0" y="2519998"/>
                </a:lnTo>
                <a:lnTo>
                  <a:pt x="0" y="420008"/>
                </a:lnTo>
                <a:cubicBezTo>
                  <a:pt x="0" y="188044"/>
                  <a:pt x="188044" y="0"/>
                  <a:pt x="420008" y="0"/>
                </a:cubicBezTo>
                <a:close/>
              </a:path>
            </a:pathLst>
          </a:custGeom>
          <a:solidFill>
            <a:srgbClr val="005474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7" name="Полилиния 6">
            <a:extLst>
              <a:ext uri="{FF2B5EF4-FFF2-40B4-BE49-F238E27FC236}">
                <a16:creationId xmlns:a16="http://schemas.microsoft.com/office/drawing/2014/main" id="{2F535E39-0B6A-A4C5-7F80-C6893001A0BF}"/>
              </a:ext>
            </a:extLst>
          </p:cNvPr>
          <p:cNvSpPr/>
          <p:nvPr/>
        </p:nvSpPr>
        <p:spPr>
          <a:xfrm rot="13500000">
            <a:off x="6016192" y="3584242"/>
            <a:ext cx="2160000" cy="2160000"/>
          </a:xfrm>
          <a:custGeom>
            <a:avLst/>
            <a:gdLst>
              <a:gd name="csX0" fmla="*/ 420008 w 2519998"/>
              <a:gd name="csY0" fmla="*/ 0 h 2519998"/>
              <a:gd name="csX1" fmla="*/ 2519998 w 2519998"/>
              <a:gd name="csY1" fmla="*/ 0 h 2519998"/>
              <a:gd name="csX2" fmla="*/ 0 w 2519998"/>
              <a:gd name="csY2" fmla="*/ 2519998 h 2519998"/>
              <a:gd name="csX3" fmla="*/ 0 w 2519998"/>
              <a:gd name="csY3" fmla="*/ 420008 h 2519998"/>
              <a:gd name="csX4" fmla="*/ 420008 w 2519998"/>
              <a:gd name="csY4" fmla="*/ 0 h 251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19998" h="2519998">
                <a:moveTo>
                  <a:pt x="420008" y="0"/>
                </a:moveTo>
                <a:lnTo>
                  <a:pt x="2519998" y="0"/>
                </a:lnTo>
                <a:lnTo>
                  <a:pt x="0" y="2519998"/>
                </a:lnTo>
                <a:lnTo>
                  <a:pt x="0" y="420008"/>
                </a:lnTo>
                <a:cubicBezTo>
                  <a:pt x="0" y="188044"/>
                  <a:pt x="188044" y="0"/>
                  <a:pt x="420008" y="0"/>
                </a:cubicBezTo>
                <a:close/>
              </a:path>
            </a:pathLst>
          </a:custGeom>
          <a:solidFill>
            <a:srgbClr val="006389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8D13FEFE-E1A3-DF85-59AA-1EB9C4429755}"/>
              </a:ext>
            </a:extLst>
          </p:cNvPr>
          <p:cNvSpPr/>
          <p:nvPr/>
        </p:nvSpPr>
        <p:spPr>
          <a:xfrm rot="16200000">
            <a:off x="4775029" y="3854239"/>
            <a:ext cx="2160000" cy="2160000"/>
          </a:xfrm>
          <a:custGeom>
            <a:avLst/>
            <a:gdLst>
              <a:gd name="csX0" fmla="*/ 420008 w 2519998"/>
              <a:gd name="csY0" fmla="*/ 0 h 2519998"/>
              <a:gd name="csX1" fmla="*/ 2519998 w 2519998"/>
              <a:gd name="csY1" fmla="*/ 0 h 2519998"/>
              <a:gd name="csX2" fmla="*/ 0 w 2519998"/>
              <a:gd name="csY2" fmla="*/ 2519998 h 2519998"/>
              <a:gd name="csX3" fmla="*/ 0 w 2519998"/>
              <a:gd name="csY3" fmla="*/ 420008 h 2519998"/>
              <a:gd name="csX4" fmla="*/ 420008 w 2519998"/>
              <a:gd name="csY4" fmla="*/ 0 h 251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19998" h="2519998">
                <a:moveTo>
                  <a:pt x="420008" y="0"/>
                </a:moveTo>
                <a:lnTo>
                  <a:pt x="2519998" y="0"/>
                </a:lnTo>
                <a:lnTo>
                  <a:pt x="0" y="2519998"/>
                </a:lnTo>
                <a:lnTo>
                  <a:pt x="0" y="420008"/>
                </a:lnTo>
                <a:cubicBezTo>
                  <a:pt x="0" y="188044"/>
                  <a:pt x="188044" y="0"/>
                  <a:pt x="420008" y="0"/>
                </a:cubicBezTo>
                <a:close/>
              </a:path>
            </a:pathLst>
          </a:custGeom>
          <a:solidFill>
            <a:srgbClr val="006F9B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9" name="Полилиния 8">
            <a:extLst>
              <a:ext uri="{FF2B5EF4-FFF2-40B4-BE49-F238E27FC236}">
                <a16:creationId xmlns:a16="http://schemas.microsoft.com/office/drawing/2014/main" id="{9F6BE430-7AE0-B064-0531-23756F3D4B12}"/>
              </a:ext>
            </a:extLst>
          </p:cNvPr>
          <p:cNvSpPr/>
          <p:nvPr/>
        </p:nvSpPr>
        <p:spPr>
          <a:xfrm rot="18900000">
            <a:off x="3763388" y="3224544"/>
            <a:ext cx="2160000" cy="2160000"/>
          </a:xfrm>
          <a:custGeom>
            <a:avLst/>
            <a:gdLst>
              <a:gd name="csX0" fmla="*/ 420008 w 2519998"/>
              <a:gd name="csY0" fmla="*/ 0 h 2519998"/>
              <a:gd name="csX1" fmla="*/ 2519998 w 2519998"/>
              <a:gd name="csY1" fmla="*/ 0 h 2519998"/>
              <a:gd name="csX2" fmla="*/ 0 w 2519998"/>
              <a:gd name="csY2" fmla="*/ 2519998 h 2519998"/>
              <a:gd name="csX3" fmla="*/ 0 w 2519998"/>
              <a:gd name="csY3" fmla="*/ 420008 h 2519998"/>
              <a:gd name="csX4" fmla="*/ 420008 w 2519998"/>
              <a:gd name="csY4" fmla="*/ 0 h 251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19998" h="2519998">
                <a:moveTo>
                  <a:pt x="420008" y="0"/>
                </a:moveTo>
                <a:lnTo>
                  <a:pt x="2519998" y="0"/>
                </a:lnTo>
                <a:lnTo>
                  <a:pt x="0" y="2519998"/>
                </a:lnTo>
                <a:lnTo>
                  <a:pt x="0" y="420008"/>
                </a:lnTo>
                <a:cubicBezTo>
                  <a:pt x="0" y="188044"/>
                  <a:pt x="188044" y="0"/>
                  <a:pt x="420008" y="0"/>
                </a:cubicBezTo>
                <a:close/>
              </a:path>
            </a:pathLst>
          </a:custGeom>
          <a:solidFill>
            <a:srgbClr val="008CC4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72782BE7-29EA-0896-8323-4482DA7C273E}"/>
              </a:ext>
            </a:extLst>
          </p:cNvPr>
          <p:cNvSpPr/>
          <p:nvPr/>
        </p:nvSpPr>
        <p:spPr>
          <a:xfrm>
            <a:off x="3473771" y="2144544"/>
            <a:ext cx="2160000" cy="2160000"/>
          </a:xfrm>
          <a:custGeom>
            <a:avLst/>
            <a:gdLst>
              <a:gd name="csX0" fmla="*/ 420008 w 2519998"/>
              <a:gd name="csY0" fmla="*/ 0 h 2519998"/>
              <a:gd name="csX1" fmla="*/ 2519998 w 2519998"/>
              <a:gd name="csY1" fmla="*/ 0 h 2519998"/>
              <a:gd name="csX2" fmla="*/ 0 w 2519998"/>
              <a:gd name="csY2" fmla="*/ 2519998 h 2519998"/>
              <a:gd name="csX3" fmla="*/ 0 w 2519998"/>
              <a:gd name="csY3" fmla="*/ 420008 h 2519998"/>
              <a:gd name="csX4" fmla="*/ 420008 w 2519998"/>
              <a:gd name="csY4" fmla="*/ 0 h 25199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19998" h="2519998">
                <a:moveTo>
                  <a:pt x="420008" y="0"/>
                </a:moveTo>
                <a:lnTo>
                  <a:pt x="2519998" y="0"/>
                </a:lnTo>
                <a:lnTo>
                  <a:pt x="0" y="2519998"/>
                </a:lnTo>
                <a:lnTo>
                  <a:pt x="0" y="420008"/>
                </a:lnTo>
                <a:cubicBezTo>
                  <a:pt x="0" y="188044"/>
                  <a:pt x="188044" y="0"/>
                  <a:pt x="420008" y="0"/>
                </a:cubicBezTo>
                <a:close/>
              </a:path>
            </a:pathLst>
          </a:custGeom>
          <a:solidFill>
            <a:srgbClr val="00AEEF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C6794-AB48-7D4E-8197-951D560B3686}"/>
              </a:ext>
            </a:extLst>
          </p:cNvPr>
          <p:cNvSpPr txBox="1"/>
          <p:nvPr/>
        </p:nvSpPr>
        <p:spPr>
          <a:xfrm>
            <a:off x="411126" y="988266"/>
            <a:ext cx="506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Что требовалось сделать?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D9883-F7AE-DBC6-BFF7-C5BFF56BFA9D}"/>
              </a:ext>
            </a:extLst>
          </p:cNvPr>
          <p:cNvSpPr txBox="1"/>
          <p:nvPr/>
        </p:nvSpPr>
        <p:spPr>
          <a:xfrm>
            <a:off x="166707" y="2120904"/>
            <a:ext cx="22245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</a:rPr>
              <a:t>Сделать веб-систему с входом и ролями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3B8137-77A9-9AB9-F12B-DE9978C1804F}"/>
              </a:ext>
            </a:extLst>
          </p:cNvPr>
          <p:cNvSpPr txBox="1"/>
          <p:nvPr/>
        </p:nvSpPr>
        <p:spPr>
          <a:xfrm>
            <a:off x="2604752" y="2053412"/>
            <a:ext cx="55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rgbClr val="0097D1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0D89CB-1989-4258-CB41-30514D37A6FB}"/>
              </a:ext>
            </a:extLst>
          </p:cNvPr>
          <p:cNvSpPr txBox="1"/>
          <p:nvPr/>
        </p:nvSpPr>
        <p:spPr>
          <a:xfrm>
            <a:off x="2604751" y="3694089"/>
            <a:ext cx="55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rgbClr val="008CC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71D330-F7A4-18FE-6EF9-AF8DC7084D3D}"/>
              </a:ext>
            </a:extLst>
          </p:cNvPr>
          <p:cNvSpPr txBox="1"/>
          <p:nvPr/>
        </p:nvSpPr>
        <p:spPr>
          <a:xfrm>
            <a:off x="2604751" y="5334766"/>
            <a:ext cx="55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rgbClr val="008CC4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4EBEB5-721D-6DD8-A10B-F03CE9D7DBA1}"/>
              </a:ext>
            </a:extLst>
          </p:cNvPr>
          <p:cNvSpPr txBox="1"/>
          <p:nvPr/>
        </p:nvSpPr>
        <p:spPr>
          <a:xfrm>
            <a:off x="8985619" y="686126"/>
            <a:ext cx="55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rgbClr val="008CC4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5ECBA8-8163-D6A6-8CAA-CD29972AFE47}"/>
              </a:ext>
            </a:extLst>
          </p:cNvPr>
          <p:cNvSpPr txBox="1"/>
          <p:nvPr/>
        </p:nvSpPr>
        <p:spPr>
          <a:xfrm>
            <a:off x="9036550" y="2071586"/>
            <a:ext cx="55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rgbClr val="008CC4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1C9241-AF88-0105-39C8-5388F8A9CA61}"/>
              </a:ext>
            </a:extLst>
          </p:cNvPr>
          <p:cNvSpPr txBox="1"/>
          <p:nvPr/>
        </p:nvSpPr>
        <p:spPr>
          <a:xfrm>
            <a:off x="9036550" y="3570721"/>
            <a:ext cx="55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rgbClr val="008CC4"/>
                </a:solidFill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3B4650-D21F-5259-A571-B0001EE5F314}"/>
              </a:ext>
            </a:extLst>
          </p:cNvPr>
          <p:cNvSpPr txBox="1"/>
          <p:nvPr/>
        </p:nvSpPr>
        <p:spPr>
          <a:xfrm>
            <a:off x="9036551" y="5149908"/>
            <a:ext cx="559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rgbClr val="008CC4"/>
                </a:solidFill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B5917B-0D48-7F19-6FA2-9D80B4308138}"/>
              </a:ext>
            </a:extLst>
          </p:cNvPr>
          <p:cNvSpPr txBox="1"/>
          <p:nvPr/>
        </p:nvSpPr>
        <p:spPr>
          <a:xfrm>
            <a:off x="1" y="3567272"/>
            <a:ext cx="2599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</a:rPr>
              <a:t>Реализовать создание и хранение проектов с текстами запросов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2F46A9-DEE8-A458-028D-C8683C3E6611}"/>
              </a:ext>
            </a:extLst>
          </p:cNvPr>
          <p:cNvSpPr txBox="1"/>
          <p:nvPr/>
        </p:nvSpPr>
        <p:spPr>
          <a:xfrm>
            <a:off x="148788" y="5334766"/>
            <a:ext cx="2451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</a:rPr>
              <a:t>Запустить асинхронный </a:t>
            </a:r>
            <a:r>
              <a:rPr lang="en" b="1" dirty="0">
                <a:solidFill>
                  <a:schemeClr val="bg1"/>
                </a:solidFill>
              </a:rPr>
              <a:t>LLM-</a:t>
            </a:r>
            <a:r>
              <a:rPr lang="ru-RU" b="1" dirty="0">
                <a:solidFill>
                  <a:schemeClr val="bg1"/>
                </a:solidFill>
              </a:rPr>
              <a:t>анализ со статусами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9525F2-EE54-41EE-7749-961254F7A3A7}"/>
              </a:ext>
            </a:extLst>
          </p:cNvPr>
          <p:cNvSpPr txBox="1"/>
          <p:nvPr/>
        </p:nvSpPr>
        <p:spPr>
          <a:xfrm>
            <a:off x="9596531" y="747573"/>
            <a:ext cx="2387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Подключить </a:t>
            </a:r>
            <a:r>
              <a:rPr lang="en" b="1" dirty="0">
                <a:solidFill>
                  <a:schemeClr val="bg1"/>
                </a:solidFill>
              </a:rPr>
              <a:t>n8n </a:t>
            </a:r>
            <a:r>
              <a:rPr lang="ru-RU" b="1" dirty="0">
                <a:solidFill>
                  <a:schemeClr val="bg1"/>
                </a:solidFill>
              </a:rPr>
              <a:t>для автоматизации цепочки обработки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D75438-7253-905C-E2D6-69941080CC3F}"/>
              </a:ext>
            </a:extLst>
          </p:cNvPr>
          <p:cNvSpPr txBox="1"/>
          <p:nvPr/>
        </p:nvSpPr>
        <p:spPr>
          <a:xfrm>
            <a:off x="9587248" y="1989924"/>
            <a:ext cx="2566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Добавить проверку и ручное редактирование перед рассылкой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2A551-B5A2-0AE5-077A-81B75563BAA0}"/>
              </a:ext>
            </a:extLst>
          </p:cNvPr>
          <p:cNvSpPr txBox="1"/>
          <p:nvPr/>
        </p:nvSpPr>
        <p:spPr>
          <a:xfrm>
            <a:off x="9596531" y="3429844"/>
            <a:ext cx="24463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Реализовать </a:t>
            </a:r>
            <a:r>
              <a:rPr lang="en" b="1" dirty="0">
                <a:solidFill>
                  <a:schemeClr val="bg1"/>
                </a:solidFill>
              </a:rPr>
              <a:t>email-</a:t>
            </a:r>
            <a:r>
              <a:rPr lang="ru-RU" b="1" dirty="0">
                <a:solidFill>
                  <a:schemeClr val="bg1"/>
                </a:solidFill>
              </a:rPr>
              <a:t>рассылку, ссылки отклика и уведомления инициатора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F81DE7-0389-57AA-3594-11C91E044C9D}"/>
              </a:ext>
            </a:extLst>
          </p:cNvPr>
          <p:cNvSpPr txBox="1"/>
          <p:nvPr/>
        </p:nvSpPr>
        <p:spPr>
          <a:xfrm>
            <a:off x="9603102" y="5149908"/>
            <a:ext cx="2380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Сделать админку, </a:t>
            </a:r>
            <a:r>
              <a:rPr lang="en" b="1" dirty="0">
                <a:solidFill>
                  <a:schemeClr val="bg1"/>
                </a:solidFill>
              </a:rPr>
              <a:t>Docker-</a:t>
            </a:r>
            <a:r>
              <a:rPr lang="ru-RU" b="1" dirty="0">
                <a:solidFill>
                  <a:schemeClr val="bg1"/>
                </a:solidFill>
              </a:rPr>
              <a:t>запуск, </a:t>
            </a:r>
            <a:r>
              <a:rPr lang="en" b="1" dirty="0">
                <a:solidFill>
                  <a:schemeClr val="bg1"/>
                </a:solidFill>
              </a:rPr>
              <a:t>seed </a:t>
            </a:r>
            <a:r>
              <a:rPr lang="ru-RU" b="1" dirty="0">
                <a:solidFill>
                  <a:schemeClr val="bg1"/>
                </a:solidFill>
              </a:rPr>
              <a:t>и базовые тесты</a:t>
            </a:r>
            <a:endParaRPr lang="ru-RU" dirty="0"/>
          </a:p>
        </p:txBody>
      </p:sp>
      <p:pic>
        <p:nvPicPr>
          <p:cNvPr id="28" name="Рисунок 27" descr="Изображение выглядит как круг, зарисовка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2AF758-330C-D011-C042-2CB76FDB40F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98" b="90990" l="7209" r="94070">
                        <a14:foregroundMark x1="9070" y1="33037" x2="9070" y2="33037"/>
                        <a14:foregroundMark x1="10349" y1="31368" x2="17093" y2="23582"/>
                        <a14:foregroundMark x1="15698" y1="22358" x2="33605" y2="10456"/>
                        <a14:foregroundMark x1="33605" y1="10456" x2="41047" y2="7898"/>
                        <a14:foregroundMark x1="54651" y1="6785" x2="69767" y2="9566"/>
                        <a14:foregroundMark x1="69767" y1="9566" x2="76163" y2="13237"/>
                        <a14:foregroundMark x1="76163" y1="13237" x2="86047" y2="23915"/>
                        <a14:foregroundMark x1="86047" y1="23915" x2="94070" y2="43493"/>
                        <a14:foregroundMark x1="94070" y1="43493" x2="94186" y2="48387"/>
                        <a14:foregroundMark x1="89535" y1="65184" x2="82674" y2="77642"/>
                        <a14:foregroundMark x1="82674" y1="77642" x2="70000" y2="84538"/>
                        <a14:foregroundMark x1="50997" y1="88545" x2="48372" y2="89099"/>
                        <a14:foregroundMark x1="70000" y1="84538" x2="66512" y2="85273"/>
                        <a14:foregroundMark x1="48372" y1="89099" x2="32093" y2="86541"/>
                        <a14:foregroundMark x1="52093" y1="91101" x2="68023" y2="87764"/>
                        <a14:foregroundMark x1="10814" y1="66963" x2="7209" y2="60845"/>
                        <a14:foregroundMark x1="7209" y1="60845" x2="8023" y2="38932"/>
                        <a14:backgroundMark x1="57093" y1="87208" x2="57093" y2="87208"/>
                        <a14:backgroundMark x1="58721" y1="87097" x2="58721" y2="87097"/>
                        <a14:backgroundMark x1="56395" y1="87319" x2="60349" y2="86652"/>
                        <a14:backgroundMark x1="59884" y1="86652" x2="66047" y2="84983"/>
                        <a14:backgroundMark x1="64302" y1="85428" x2="66744" y2="84872"/>
                        <a14:backgroundMark x1="65814" y1="85428" x2="66860" y2="85095"/>
                        <a14:backgroundMark x1="56047" y1="87542" x2="51628" y2="87987"/>
                        <a14:backgroundMark x1="51279" y1="88209" x2="51977" y2="88432"/>
                        <a14:backgroundMark x1="55349" y1="87653" x2="56860" y2="87764"/>
                      </a14:backgroundRemoval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3715999" y="2427032"/>
            <a:ext cx="790237" cy="826074"/>
          </a:xfrm>
          <a:prstGeom prst="rect">
            <a:avLst/>
          </a:prstGeom>
        </p:spPr>
      </p:pic>
      <p:pic>
        <p:nvPicPr>
          <p:cNvPr id="30" name="Рисунок 29" descr="Изображение выглядит как пружина, спиральная пружина, прир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4D64D6-8011-752F-1053-D30A78BB15D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595" b="89917" l="10000" r="90000">
                        <a14:foregroundMark x1="35349" y1="9421" x2="43488" y2="8595"/>
                        <a14:foregroundMark x1="71977" y1="31240" x2="71628" y2="31405"/>
                        <a14:foregroundMark x1="71744" y1="56364" x2="71977" y2="55702"/>
                        <a14:foregroundMark x1="72907" y1="81653" x2="72791" y2="81157"/>
                        <a14:foregroundMark x1="78140" y1="79669" x2="78721" y2="70909"/>
                        <a14:foregroundMark x1="78721" y1="70909" x2="78721" y2="70909"/>
                        <a14:foregroundMark x1="77907" y1="56198" x2="77907" y2="48430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2563" y="3972770"/>
            <a:ext cx="1174252" cy="826073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круг, снимок экрана, Графика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409ED14-8896-A045-3EBF-07DA5FD89B0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7944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7890" y="5021891"/>
            <a:ext cx="863554" cy="863554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символ, графическая вставка, дизайн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BC6488-D2DA-9F7A-CF47-5D23BDA2E0D4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5326" r="94130">
                        <a14:foregroundMark x1="19239" y1="53152" x2="36087" y2="52500"/>
                        <a14:foregroundMark x1="76304" y1="64783" x2="81304" y2="57174"/>
                        <a14:foregroundMark x1="91196" y1="51413" x2="94239" y2="46848"/>
                        <a14:foregroundMark x1="6522" y1="66848" x2="5326" y2="58261"/>
                        <a14:foregroundMark x1="23261" y1="36848" x2="23261" y2="42826"/>
                      </a14:backgroundRemoval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6185" y="4767601"/>
            <a:ext cx="970696" cy="970696"/>
          </a:xfrm>
          <a:prstGeom prst="rect">
            <a:avLst/>
          </a:prstGeom>
        </p:spPr>
      </p:pic>
      <p:pic>
        <p:nvPicPr>
          <p:cNvPr id="36" name="Рисунок 35" descr="Изображение выглядит как зарисовка, Графика, круг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80740F-3AB5-D1E6-27C8-118E30AB8027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38231" y1="41562" x2="38095" y2="38791"/>
                        <a14:foregroundMark x1="47755" y1="74055" x2="50612" y2="74307"/>
                      </a14:backgroundRemoval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9846" y="3567272"/>
            <a:ext cx="898064" cy="970153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Графика, Шрифт, графический дизайн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748202-D760-910D-7075-BEFD35FD0419}"/>
              </a:ext>
            </a:extLst>
          </p:cNvPr>
          <p:cNvPicPr>
            <a:picLocks noChangeAspect="1"/>
          </p:cNvPicPr>
          <p:nvPr/>
        </p:nvPicPr>
        <p:blipFill>
          <a:blip r:embed="rId12">
            <a:biLevel thresh="2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36714" y1="68143" x2="38571" y2="70857"/>
                        <a14:foregroundMark x1="28286" y1="68143" x2="28571" y2="73286"/>
                        <a14:foregroundMark x1="37857" y1="76857" x2="37714" y2="72286"/>
                        <a14:foregroundMark x1="27714" y1="77714" x2="28143" y2="73857"/>
                        <a14:foregroundMark x1="50204" y1="76977" x2="53143" y2="76857"/>
                        <a14:foregroundMark x1="46143" y1="77143" x2="48780" y2="77035"/>
                        <a14:foregroundMark x1="53339" y1="76583" x2="53857" y2="75857"/>
                        <a14:foregroundMark x1="53143" y1="76857" x2="53337" y2="76586"/>
                        <a14:foregroundMark x1="50433" y1="71050" x2="46143" y2="65857"/>
                        <a14:foregroundMark x1="54286" y1="75714" x2="52473" y2="73518"/>
                        <a14:foregroundMark x1="60714" y1="66857" x2="61571" y2="75857"/>
                        <a14:foregroundMark x1="66429" y1="67000" x2="70714" y2="70286"/>
                        <a14:foregroundMark x1="71000" y1="78286" x2="71286" y2="71429"/>
                        <a14:backgroundMark x1="51857" y1="73714" x2="50857" y2="72143"/>
                        <a14:backgroundMark x1="51857" y1="73571" x2="52000" y2="72714"/>
                        <a14:backgroundMark x1="52286" y1="73571" x2="52571" y2="73286"/>
                        <a14:backgroundMark x1="52286" y1="74143" x2="51000" y2="71714"/>
                        <a14:backgroundMark x1="52571" y1="74429" x2="52000" y2="72714"/>
                        <a14:backgroundMark x1="52714" y1="74143" x2="52286" y2="73429"/>
                        <a14:backgroundMark x1="49000" y1="76714" x2="50286" y2="76857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2894" b="39905"/>
          <a:stretch>
            <a:fillRect/>
          </a:stretch>
        </p:blipFill>
        <p:spPr>
          <a:xfrm>
            <a:off x="5888705" y="1055681"/>
            <a:ext cx="1348024" cy="636281"/>
          </a:xfrm>
          <a:prstGeom prst="rect">
            <a:avLst/>
          </a:prstGeom>
        </p:spPr>
      </p:pic>
      <p:pic>
        <p:nvPicPr>
          <p:cNvPr id="40" name="Рисунок 39" descr="Изображение выглядит как линия, скрепка, дизайн, канцтовар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7C92C7-692A-7C68-E416-58CF7A461DC8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982" b="93520" l="10000" r="90000">
                        <a14:foregroundMark x1="20476" y1="29422" x2="20714" y2="34151"/>
                        <a14:foregroundMark x1="42857" y1="93520" x2="45595" y2="93520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2631" y="2120904"/>
            <a:ext cx="1228359" cy="83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7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AE78-6593-31F3-89A7-9DCEB070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B3BE9CD-32D6-0B22-DA14-7AE077ABE2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10" t="9937"/>
          <a:stretch>
            <a:fillRect/>
          </a:stretch>
        </p:blipFill>
        <p:spPr>
          <a:xfrm>
            <a:off x="12305892" y="772814"/>
            <a:ext cx="6808016" cy="38000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8E8970-DF08-A9C9-CC2D-197F6EF05052}"/>
              </a:ext>
            </a:extLst>
          </p:cNvPr>
          <p:cNvSpPr txBox="1"/>
          <p:nvPr/>
        </p:nvSpPr>
        <p:spPr>
          <a:xfrm>
            <a:off x="1892300" y="2459504"/>
            <a:ext cx="840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/>
                </a:solidFill>
              </a:rPr>
              <a:t>Основной сценарий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193767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0CF9FB-2097-39FF-17F0-33906BF5CA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10" t="9937"/>
          <a:stretch>
            <a:fillRect/>
          </a:stretch>
        </p:blipFill>
        <p:spPr>
          <a:xfrm>
            <a:off x="2691992" y="760114"/>
            <a:ext cx="6808016" cy="3800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1BBAFB-5D3C-F7E0-9C37-2CB0045801D7}"/>
              </a:ext>
            </a:extLst>
          </p:cNvPr>
          <p:cNvSpPr txBox="1"/>
          <p:nvPr/>
        </p:nvSpPr>
        <p:spPr>
          <a:xfrm>
            <a:off x="3047376" y="5020668"/>
            <a:ext cx="60972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Инициатор создает проект и загружает текст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8" name="Рисунок 7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9C95B3-1105-E454-A3E6-78C175CB6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05" t="10227"/>
          <a:stretch>
            <a:fillRect/>
          </a:stretch>
        </p:blipFill>
        <p:spPr>
          <a:xfrm>
            <a:off x="12279148" y="760114"/>
            <a:ext cx="6826694" cy="380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66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8662-EF5E-8784-FCD4-7BC50EFA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661B13-EAB4-296E-1D27-BFA54E0A5480}"/>
              </a:ext>
            </a:extLst>
          </p:cNvPr>
          <p:cNvSpPr txBox="1"/>
          <p:nvPr/>
        </p:nvSpPr>
        <p:spPr>
          <a:xfrm>
            <a:off x="3047376" y="5020668"/>
            <a:ext cx="60972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Далее запускается асинхронный анализ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683280-B4C3-E4FD-2C61-5E055FCA2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05" t="10227"/>
          <a:stretch>
            <a:fillRect/>
          </a:stretch>
        </p:blipFill>
        <p:spPr>
          <a:xfrm>
            <a:off x="2682653" y="760114"/>
            <a:ext cx="6826694" cy="3800008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2F61B9-F04F-39E1-EBE3-B828355EB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10" t="9937"/>
          <a:stretch>
            <a:fillRect/>
          </a:stretch>
        </p:blipFill>
        <p:spPr>
          <a:xfrm>
            <a:off x="-6945241" y="760114"/>
            <a:ext cx="6808016" cy="3800008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5E90922-7A25-3211-1D28-3141A4D524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841" t="10274"/>
          <a:stretch>
            <a:fillRect/>
          </a:stretch>
        </p:blipFill>
        <p:spPr>
          <a:xfrm>
            <a:off x="12329225" y="760114"/>
            <a:ext cx="6826694" cy="380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63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390B2-2F12-0909-43D3-11532A0E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79017CC-44B1-48B7-91FE-6D950B1F3F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41" t="10274"/>
          <a:stretch>
            <a:fillRect/>
          </a:stretch>
        </p:blipFill>
        <p:spPr>
          <a:xfrm>
            <a:off x="2682653" y="757753"/>
            <a:ext cx="6826694" cy="3802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A5B728-09DA-578D-ED66-D87E9FFB41AB}"/>
              </a:ext>
            </a:extLst>
          </p:cNvPr>
          <p:cNvSpPr txBox="1"/>
          <p:nvPr/>
        </p:nvSpPr>
        <p:spPr>
          <a:xfrm>
            <a:off x="660088" y="5020668"/>
            <a:ext cx="108718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3200" b="1" dirty="0">
                <a:solidFill>
                  <a:schemeClr val="bg1"/>
                </a:solidFill>
              </a:rPr>
              <a:t>LLM </a:t>
            </a:r>
            <a:r>
              <a:rPr lang="ru-RU" sz="3200" b="1" dirty="0">
                <a:solidFill>
                  <a:schemeClr val="bg1"/>
                </a:solidFill>
              </a:rPr>
              <a:t>возвращает задачи, рекомендации по подразделениям и черновики писем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FE5A7FC-CEEA-444B-D6DF-436E1404DA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05" t="10227"/>
          <a:stretch>
            <a:fillRect/>
          </a:stretch>
        </p:blipFill>
        <p:spPr>
          <a:xfrm>
            <a:off x="-6929179" y="757753"/>
            <a:ext cx="6826694" cy="3800008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0D1DB2-7CCC-970D-20CC-068FC5CB7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9430" y="1005708"/>
            <a:ext cx="6239540" cy="366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3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60E24-E430-893B-5B6F-5AF7D00A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511258-289F-1A90-0F31-736BF700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230" y="993008"/>
            <a:ext cx="6239540" cy="366956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1083A8-B520-14C5-D2BE-7BB0B31A4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41" t="10274"/>
          <a:stretch>
            <a:fillRect/>
          </a:stretch>
        </p:blipFill>
        <p:spPr>
          <a:xfrm>
            <a:off x="-6971710" y="926606"/>
            <a:ext cx="6826694" cy="3802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344F46-090D-3CBA-A9EC-943AD826DA90}"/>
              </a:ext>
            </a:extLst>
          </p:cNvPr>
          <p:cNvSpPr txBox="1"/>
          <p:nvPr/>
        </p:nvSpPr>
        <p:spPr>
          <a:xfrm>
            <a:off x="660088" y="4662573"/>
            <a:ext cx="108718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После отправки письма сотрудники переходят по уникальной ссылке “Хочу вступить в проект”, и система фиксирует отклик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282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снимок экрана, текст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023FFF-3DAC-BEB5-0AAE-4024791D5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39540" y="1012954"/>
            <a:ext cx="6239540" cy="3669565"/>
          </a:xfrm>
          <a:prstGeom prst="rect">
            <a:avLst/>
          </a:prstGeom>
        </p:spPr>
      </p:pic>
      <p:pic>
        <p:nvPicPr>
          <p:cNvPr id="3" name="Рисунок 2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31A939-DEFA-E57D-2C0F-F194E25203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04" t="38477" r="10320" b="42951"/>
          <a:stretch>
            <a:fillRect/>
          </a:stretch>
        </p:blipFill>
        <p:spPr>
          <a:xfrm>
            <a:off x="0" y="2847736"/>
            <a:ext cx="12192000" cy="13470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01C491-18AB-32CB-4D9A-C8A7459E2750}"/>
              </a:ext>
            </a:extLst>
          </p:cNvPr>
          <p:cNvSpPr txBox="1"/>
          <p:nvPr/>
        </p:nvSpPr>
        <p:spPr>
          <a:xfrm>
            <a:off x="1250950" y="544091"/>
            <a:ext cx="96901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Для наглядности цепочка обработки вынесена в </a:t>
            </a:r>
            <a:r>
              <a:rPr lang="en" sz="2800" b="1" dirty="0">
                <a:solidFill>
                  <a:schemeClr val="bg1"/>
                </a:solidFill>
              </a:rPr>
              <a:t>n8n.</a:t>
            </a:r>
            <a:br>
              <a:rPr lang="en" sz="2800" b="1" dirty="0">
                <a:solidFill>
                  <a:schemeClr val="bg1"/>
                </a:solidFill>
              </a:rPr>
            </a:br>
            <a:r>
              <a:rPr lang="en" sz="2800" b="1" dirty="0">
                <a:solidFill>
                  <a:schemeClr val="bg1"/>
                </a:solidFill>
              </a:rPr>
              <a:t>API </a:t>
            </a:r>
            <a:r>
              <a:rPr lang="ru-RU" sz="2800" b="1" dirty="0">
                <a:solidFill>
                  <a:schemeClr val="bg1"/>
                </a:solidFill>
              </a:rPr>
              <a:t>передает текст в </a:t>
            </a:r>
            <a:r>
              <a:rPr lang="en" sz="2800" b="1" dirty="0">
                <a:solidFill>
                  <a:schemeClr val="bg1"/>
                </a:solidFill>
              </a:rPr>
              <a:t>webhook n8n, workflow </a:t>
            </a:r>
            <a:r>
              <a:rPr lang="ru-RU" sz="2800" b="1" dirty="0">
                <a:solidFill>
                  <a:schemeClr val="bg1"/>
                </a:solidFill>
              </a:rPr>
              <a:t>обращается к модели через </a:t>
            </a:r>
            <a:r>
              <a:rPr lang="en" sz="2800" b="1" dirty="0" err="1">
                <a:solidFill>
                  <a:schemeClr val="bg1"/>
                </a:solidFill>
              </a:rPr>
              <a:t>Ollama</a:t>
            </a:r>
            <a:r>
              <a:rPr lang="en" sz="2800" b="1" dirty="0">
                <a:solidFill>
                  <a:schemeClr val="bg1"/>
                </a:solidFill>
              </a:rPr>
              <a:t> </a:t>
            </a:r>
            <a:r>
              <a:rPr lang="ru-RU" sz="2800" b="1" dirty="0">
                <a:solidFill>
                  <a:schemeClr val="bg1"/>
                </a:solidFill>
              </a:rPr>
              <a:t>и возвращает строго структурированный результат.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10718-5305-25D7-44EA-9D7A5BA20C26}"/>
              </a:ext>
            </a:extLst>
          </p:cNvPr>
          <p:cNvSpPr txBox="1"/>
          <p:nvPr/>
        </p:nvSpPr>
        <p:spPr>
          <a:xfrm>
            <a:off x="1454150" y="4630929"/>
            <a:ext cx="92837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Так мы получаем прозрачный и управляемый процесс обработки, а в будущем можем заменить модель на локально обученную без изменения бизнес-логики интерфейса</a:t>
            </a:r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6" name="Рисунок 5" descr="Изображение выглядит как диаграмма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B34BFF-847C-3179-ABB2-3EB66F3E80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46" t="37494" r="12059" b="46210"/>
          <a:stretch>
            <a:fillRect/>
          </a:stretch>
        </p:blipFill>
        <p:spPr>
          <a:xfrm>
            <a:off x="0" y="2847736"/>
            <a:ext cx="12192000" cy="134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28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0E8090-E9F7-25B0-2E07-0DF4116FA409}"/>
              </a:ext>
            </a:extLst>
          </p:cNvPr>
          <p:cNvSpPr txBox="1"/>
          <p:nvPr/>
        </p:nvSpPr>
        <p:spPr>
          <a:xfrm>
            <a:off x="3048000" y="2413625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Админ-функции, безопасность, аудит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1E42EB-A170-E314-C0FF-BD21BFD351D3}"/>
              </a:ext>
            </a:extLst>
          </p:cNvPr>
          <p:cNvSpPr txBox="1"/>
          <p:nvPr/>
        </p:nvSpPr>
        <p:spPr>
          <a:xfrm>
            <a:off x="-7040570" y="738858"/>
            <a:ext cx="70405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Реализованы роли </a:t>
            </a:r>
            <a:r>
              <a:rPr lang="en" sz="2400" b="1" dirty="0">
                <a:solidFill>
                  <a:schemeClr val="bg1"/>
                </a:solidFill>
              </a:rPr>
              <a:t>admin </a:t>
            </a:r>
            <a:r>
              <a:rPr lang="ru-RU" sz="2400" b="1" dirty="0">
                <a:solidFill>
                  <a:schemeClr val="bg1"/>
                </a:solidFill>
              </a:rPr>
              <a:t>и </a:t>
            </a:r>
            <a:r>
              <a:rPr lang="en" sz="2400" b="1" dirty="0">
                <a:solidFill>
                  <a:schemeClr val="bg1"/>
                </a:solidFill>
              </a:rPr>
              <a:t>initiator, </a:t>
            </a:r>
            <a:r>
              <a:rPr lang="ru-RU" sz="2400" b="1" dirty="0">
                <a:solidFill>
                  <a:schemeClr val="bg1"/>
                </a:solidFill>
              </a:rPr>
              <a:t>закрытые маршруты, </a:t>
            </a:r>
            <a:r>
              <a:rPr lang="en" sz="2400" b="1" dirty="0">
                <a:solidFill>
                  <a:schemeClr val="bg1"/>
                </a:solidFill>
              </a:rPr>
              <a:t>JWT </a:t>
            </a:r>
            <a:r>
              <a:rPr lang="ru-RU" sz="2400" b="1" dirty="0">
                <a:solidFill>
                  <a:schemeClr val="bg1"/>
                </a:solidFill>
              </a:rPr>
              <a:t>через </a:t>
            </a:r>
            <a:r>
              <a:rPr lang="en" sz="2400" b="1" dirty="0" err="1">
                <a:solidFill>
                  <a:schemeClr val="bg1"/>
                </a:solidFill>
              </a:rPr>
              <a:t>httpOnly</a:t>
            </a:r>
            <a:r>
              <a:rPr lang="en" sz="2400" b="1" dirty="0">
                <a:solidFill>
                  <a:schemeClr val="bg1"/>
                </a:solidFill>
              </a:rPr>
              <a:t> cookie, </a:t>
            </a:r>
            <a:r>
              <a:rPr lang="ru-RU" sz="2400" b="1" dirty="0">
                <a:solidFill>
                  <a:schemeClr val="bg1"/>
                </a:solidFill>
              </a:rPr>
              <a:t>хэширование паролей, валидация входных данных и ограничение на публичный </a:t>
            </a:r>
            <a:r>
              <a:rPr lang="en" sz="2400" b="1" dirty="0">
                <a:solidFill>
                  <a:schemeClr val="bg1"/>
                </a:solidFill>
              </a:rPr>
              <a:t>endpoint </a:t>
            </a:r>
            <a:r>
              <a:rPr lang="ru-RU" sz="2400" b="1" dirty="0">
                <a:solidFill>
                  <a:schemeClr val="bg1"/>
                </a:solidFill>
              </a:rPr>
              <a:t>отклика</a:t>
            </a:r>
          </a:p>
        </p:txBody>
      </p:sp>
      <p:pic>
        <p:nvPicPr>
          <p:cNvPr id="6" name="Рисунок 5" descr="Изображение выглядит как текст, снимок экрана, Операционная система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64730D2-4B5C-799B-53E3-EAABB11A5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5" t="1047" r="1460" b="1681"/>
          <a:stretch>
            <a:fillRect/>
          </a:stretch>
        </p:blipFill>
        <p:spPr>
          <a:xfrm>
            <a:off x="8005991" y="-2726880"/>
            <a:ext cx="2954439" cy="2514765"/>
          </a:xfrm>
          <a:prstGeom prst="roundRect">
            <a:avLst>
              <a:gd name="adj" fmla="val 665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9AE70C-39D0-7E62-8C65-0F2CD006A8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5" t="10041" r="-1" b="741"/>
          <a:stretch>
            <a:fillRect/>
          </a:stretch>
        </p:blipFill>
        <p:spPr>
          <a:xfrm>
            <a:off x="644424" y="7136488"/>
            <a:ext cx="5590823" cy="30831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2BBD2-6218-FE9A-9DA2-D2B1DAD99F02}"/>
              </a:ext>
            </a:extLst>
          </p:cNvPr>
          <p:cNvSpPr txBox="1"/>
          <p:nvPr/>
        </p:nvSpPr>
        <p:spPr>
          <a:xfrm>
            <a:off x="12536129" y="3338051"/>
            <a:ext cx="54569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Администратор управляет пользователями, подразделениями и системными настройками.</a:t>
            </a:r>
            <a:br>
              <a:rPr lang="ru-RU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В системе хранится история запросов, статусы обработки, статусы рассылки и отклики, что обеспечивает прозрачность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3079173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8C0C6-1AC2-999A-E0AD-41491800FE5E}"/>
              </a:ext>
            </a:extLst>
          </p:cNvPr>
          <p:cNvSpPr txBox="1"/>
          <p:nvPr/>
        </p:nvSpPr>
        <p:spPr>
          <a:xfrm>
            <a:off x="644424" y="650368"/>
            <a:ext cx="70405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Реализованы роли </a:t>
            </a:r>
            <a:r>
              <a:rPr lang="en" sz="2400" b="1" dirty="0">
                <a:solidFill>
                  <a:schemeClr val="bg1"/>
                </a:solidFill>
              </a:rPr>
              <a:t>admin </a:t>
            </a:r>
            <a:r>
              <a:rPr lang="ru-RU" sz="2400" b="1" dirty="0">
                <a:solidFill>
                  <a:schemeClr val="bg1"/>
                </a:solidFill>
              </a:rPr>
              <a:t>и </a:t>
            </a:r>
            <a:r>
              <a:rPr lang="en" sz="2400" b="1" dirty="0">
                <a:solidFill>
                  <a:schemeClr val="bg1"/>
                </a:solidFill>
              </a:rPr>
              <a:t>initiator, </a:t>
            </a:r>
            <a:r>
              <a:rPr lang="ru-RU" sz="2400" b="1" dirty="0">
                <a:solidFill>
                  <a:schemeClr val="bg1"/>
                </a:solidFill>
              </a:rPr>
              <a:t>закрытые маршруты, </a:t>
            </a:r>
            <a:r>
              <a:rPr lang="en" sz="2400" b="1" dirty="0">
                <a:solidFill>
                  <a:schemeClr val="bg1"/>
                </a:solidFill>
              </a:rPr>
              <a:t>JWT </a:t>
            </a:r>
            <a:r>
              <a:rPr lang="ru-RU" sz="2400" b="1" dirty="0">
                <a:solidFill>
                  <a:schemeClr val="bg1"/>
                </a:solidFill>
              </a:rPr>
              <a:t>через </a:t>
            </a:r>
            <a:r>
              <a:rPr lang="en" sz="2400" b="1" dirty="0" err="1">
                <a:solidFill>
                  <a:schemeClr val="bg1"/>
                </a:solidFill>
              </a:rPr>
              <a:t>httpOnly</a:t>
            </a:r>
            <a:r>
              <a:rPr lang="en" sz="2400" b="1" dirty="0">
                <a:solidFill>
                  <a:schemeClr val="bg1"/>
                </a:solidFill>
              </a:rPr>
              <a:t> cookie, </a:t>
            </a:r>
            <a:r>
              <a:rPr lang="ru-RU" sz="2400" b="1" dirty="0">
                <a:solidFill>
                  <a:schemeClr val="bg1"/>
                </a:solidFill>
              </a:rPr>
              <a:t>хэширование паролей, валидация входных данных и ограничение на публичный </a:t>
            </a:r>
            <a:r>
              <a:rPr lang="en" sz="2400" b="1" dirty="0">
                <a:solidFill>
                  <a:schemeClr val="bg1"/>
                </a:solidFill>
              </a:rPr>
              <a:t>endpoint </a:t>
            </a:r>
            <a:r>
              <a:rPr lang="ru-RU" sz="2400" b="1" dirty="0">
                <a:solidFill>
                  <a:schemeClr val="bg1"/>
                </a:solidFill>
              </a:rPr>
              <a:t>отклика</a:t>
            </a:r>
          </a:p>
        </p:txBody>
      </p:sp>
      <p:pic>
        <p:nvPicPr>
          <p:cNvPr id="6" name="Рисунок 5" descr="Изображение выглядит как текст, снимок экрана, Операционная система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CE4D42E-992F-7D9C-0D55-7284AD51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5" t="1047" r="1460" b="1681"/>
          <a:stretch>
            <a:fillRect/>
          </a:stretch>
        </p:blipFill>
        <p:spPr>
          <a:xfrm>
            <a:off x="7956830" y="439108"/>
            <a:ext cx="2954439" cy="2514765"/>
          </a:xfrm>
          <a:prstGeom prst="roundRect">
            <a:avLst>
              <a:gd name="adj" fmla="val 665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Рисунок 7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1A2DDD-628E-240C-27B9-B8F148FC99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5" t="10041" r="-1" b="741"/>
          <a:stretch>
            <a:fillRect/>
          </a:stretch>
        </p:blipFill>
        <p:spPr>
          <a:xfrm>
            <a:off x="644424" y="3282243"/>
            <a:ext cx="5590823" cy="3083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C4CA89-620B-B297-F339-7C24340399E2}"/>
              </a:ext>
            </a:extLst>
          </p:cNvPr>
          <p:cNvSpPr txBox="1"/>
          <p:nvPr/>
        </p:nvSpPr>
        <p:spPr>
          <a:xfrm>
            <a:off x="6558116" y="3318386"/>
            <a:ext cx="545690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Администратор управляет пользователями, подразделениями и системными настройками.</a:t>
            </a:r>
            <a:br>
              <a:rPr lang="ru-RU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В системе хранится история запросов, статусы обработки, статусы рассылки и отклики, что обеспечивает прозрачность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53004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A186F7-E0BB-C42F-68C9-2E842F1E9B68}"/>
              </a:ext>
            </a:extLst>
          </p:cNvPr>
          <p:cNvSpPr txBox="1"/>
          <p:nvPr/>
        </p:nvSpPr>
        <p:spPr>
          <a:xfrm>
            <a:off x="687247" y="797510"/>
            <a:ext cx="110617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Результат и дальнейшее развитие</a:t>
            </a:r>
            <a:br>
              <a:rPr lang="ru-RU" sz="2800" b="1" dirty="0">
                <a:solidFill>
                  <a:schemeClr val="bg1"/>
                </a:solidFill>
              </a:rPr>
            </a:br>
            <a:br>
              <a:rPr lang="ru-RU" sz="2800" b="1" dirty="0">
                <a:solidFill>
                  <a:schemeClr val="bg1"/>
                </a:solidFill>
              </a:rPr>
            </a:br>
            <a:r>
              <a:rPr lang="ru-RU" sz="2800" b="1" dirty="0">
                <a:solidFill>
                  <a:schemeClr val="bg1"/>
                </a:solidFill>
              </a:rPr>
              <a:t>«Итог практики: мы создали работающий </a:t>
            </a:r>
            <a:r>
              <a:rPr lang="en" sz="2800" b="1" dirty="0">
                <a:solidFill>
                  <a:schemeClr val="bg1"/>
                </a:solidFill>
              </a:rPr>
              <a:t>MVP </a:t>
            </a:r>
            <a:r>
              <a:rPr lang="ru-RU" sz="2800" b="1" dirty="0">
                <a:solidFill>
                  <a:schemeClr val="bg1"/>
                </a:solidFill>
              </a:rPr>
              <a:t>с нуля, закрыв полный цикл от текстового запроса до отклика подразделений.</a:t>
            </a:r>
            <a:br>
              <a:rPr lang="ru-RU" sz="2800" b="1" dirty="0">
                <a:solidFill>
                  <a:schemeClr val="bg1"/>
                </a:solidFill>
              </a:rPr>
            </a:br>
            <a:r>
              <a:rPr lang="ru-RU" sz="2800" b="1" dirty="0">
                <a:solidFill>
                  <a:schemeClr val="bg1"/>
                </a:solidFill>
              </a:rPr>
              <a:t>Система готова к пилотированию в локальной сети вуза и дальнейшему развитию.</a:t>
            </a:r>
          </a:p>
          <a:p>
            <a:br>
              <a:rPr lang="ru-RU" sz="2800" b="1" dirty="0">
                <a:solidFill>
                  <a:schemeClr val="bg1"/>
                </a:solidFill>
              </a:rPr>
            </a:br>
            <a:r>
              <a:rPr lang="ru-RU" sz="2800" b="1" dirty="0">
                <a:solidFill>
                  <a:schemeClr val="bg1"/>
                </a:solidFill>
              </a:rPr>
              <a:t>Следующие шаги: подключение корпоративного </a:t>
            </a:r>
            <a:r>
              <a:rPr lang="en" sz="2800" b="1" dirty="0">
                <a:solidFill>
                  <a:schemeClr val="bg1"/>
                </a:solidFill>
              </a:rPr>
              <a:t>SSO/LDAP, </a:t>
            </a:r>
            <a:r>
              <a:rPr lang="ru-RU" sz="2800" b="1" dirty="0">
                <a:solidFill>
                  <a:schemeClr val="bg1"/>
                </a:solidFill>
              </a:rPr>
              <a:t>переход на локальную промышленную </a:t>
            </a:r>
            <a:r>
              <a:rPr lang="en" sz="2800" b="1" dirty="0">
                <a:solidFill>
                  <a:schemeClr val="bg1"/>
                </a:solidFill>
              </a:rPr>
              <a:t>LLM, </a:t>
            </a:r>
            <a:r>
              <a:rPr lang="ru-RU" sz="2800" b="1" dirty="0">
                <a:solidFill>
                  <a:schemeClr val="bg1"/>
                </a:solidFill>
              </a:rPr>
              <a:t>расширение аналитики и уведомлений».</a:t>
            </a:r>
            <a:br>
              <a:rPr lang="ru-RU" sz="2800" b="1" dirty="0">
                <a:solidFill>
                  <a:schemeClr val="bg1"/>
                </a:solidFill>
              </a:rPr>
            </a:br>
            <a:r>
              <a:rPr lang="ru-RU" sz="2800" b="1" dirty="0">
                <a:solidFill>
                  <a:schemeClr val="bg1"/>
                </a:solidFill>
              </a:rPr>
              <a:t>Скриншот: страница откликов по проекту или карточка проекта со статусами рассылки.</a:t>
            </a:r>
          </a:p>
        </p:txBody>
      </p:sp>
    </p:spTree>
    <p:extLst>
      <p:ext uri="{BB962C8B-B14F-4D97-AF65-F5344CB8AC3E}">
        <p14:creationId xmlns:p14="http://schemas.microsoft.com/office/powerpoint/2010/main" val="239882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EC3BA-5C7D-DB2A-C733-C7766B3C1AD1}"/>
              </a:ext>
            </a:extLst>
          </p:cNvPr>
          <p:cNvSpPr txBox="1"/>
          <p:nvPr/>
        </p:nvSpPr>
        <p:spPr>
          <a:xfrm>
            <a:off x="2201119" y="2673752"/>
            <a:ext cx="7789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17184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CE17-0536-2372-4C0F-704CAE9D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A32FC9-47A0-82C6-87BA-15F5DBE0B366}"/>
              </a:ext>
            </a:extLst>
          </p:cNvPr>
          <p:cNvSpPr txBox="1">
            <a:spLocks/>
          </p:cNvSpPr>
          <p:nvPr/>
        </p:nvSpPr>
        <p:spPr>
          <a:xfrm>
            <a:off x="-6908800" y="1800886"/>
            <a:ext cx="26009600" cy="147732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ru-RU" sz="9600" b="1" dirty="0">
                <a:solidFill>
                  <a:srgbClr val="00AEEF"/>
                </a:solidFill>
              </a:rPr>
              <a:t>ПРОЕКТОРИЯ ПРОЕКТОРИЯ</a:t>
            </a:r>
            <a:r>
              <a:rPr lang="ru-RU" sz="9600" b="1" dirty="0">
                <a:solidFill>
                  <a:srgbClr val="00AEEF"/>
                </a:solidFill>
                <a:latin typeface="Aptos" panose="02110004020202020204"/>
              </a:rPr>
              <a:t> </a:t>
            </a:r>
            <a:r>
              <a:rPr lang="ru-RU" sz="9600" b="1" dirty="0">
                <a:solidFill>
                  <a:srgbClr val="00AEEF"/>
                </a:solidFill>
              </a:rPr>
              <a:t>ПРОЕКТОРИЯ</a:t>
            </a:r>
          </a:p>
        </p:txBody>
      </p:sp>
      <p:pic>
        <p:nvPicPr>
          <p:cNvPr id="3" name="Рисунок 2" descr="Изображение выглядит как Графика, снимок экрана, символ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027B17-96E5-59BA-0B06-9FA419B30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2409" y="-994144"/>
            <a:ext cx="8846288" cy="8846288"/>
          </a:xfrm>
          <a:prstGeom prst="rect">
            <a:avLst/>
          </a:prstGeom>
          <a:effectLst>
            <a:outerShdw blurRad="423275" dist="38100" dir="2700000" sx="104743" sy="104743" algn="tl" rotWithShape="0">
              <a:prstClr val="black">
                <a:alpha val="44043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6BAB66-A9A5-C3A3-BFC3-8C7C5DD341C6}"/>
              </a:ext>
            </a:extLst>
          </p:cNvPr>
          <p:cNvSpPr txBox="1"/>
          <p:nvPr/>
        </p:nvSpPr>
        <p:spPr>
          <a:xfrm>
            <a:off x="3610787" y="3278214"/>
            <a:ext cx="8240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Проектирование веб-системы поддержки формирования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межподразделенческих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университетских проектов по текстовым запросам индустрии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178C0F1A-ED04-A05B-D210-7AFE856A66BD}"/>
              </a:ext>
            </a:extLst>
          </p:cNvPr>
          <p:cNvGraphicFramePr>
            <a:graphicFrameLocks noGrp="1"/>
          </p:cNvGraphicFramePr>
          <p:nvPr/>
        </p:nvGraphicFramePr>
        <p:xfrm>
          <a:off x="3766287" y="4779542"/>
          <a:ext cx="7929528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4764">
                  <a:extLst>
                    <a:ext uri="{9D8B030D-6E8A-4147-A177-3AD203B41FA5}">
                      <a16:colId xmlns:a16="http://schemas.microsoft.com/office/drawing/2014/main" val="2793458332"/>
                    </a:ext>
                  </a:extLst>
                </a:gridCol>
                <a:gridCol w="3964764">
                  <a:extLst>
                    <a:ext uri="{9D8B030D-6E8A-4147-A177-3AD203B41FA5}">
                      <a16:colId xmlns:a16="http://schemas.microsoft.com/office/drawing/2014/main" val="4243746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Выполнили обучающиеся 2 курса, МОиАИС-24 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err="1">
                          <a:solidFill>
                            <a:schemeClr val="bg1"/>
                          </a:solidFill>
                        </a:rPr>
                        <a:t>Афонасьев</a:t>
                      </a:r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 А.Д</a:t>
                      </a:r>
                    </a:p>
                    <a:p>
                      <a:pPr algn="r"/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Фень А.И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7547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Научный руководитель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400" dirty="0">
                          <a:solidFill>
                            <a:schemeClr val="bg1"/>
                          </a:solidFill>
                        </a:rPr>
                        <a:t>Шевляков А.Н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7940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00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.66641 -0.00023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2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479</Words>
  <Application>Microsoft Macintosh PowerPoint</Application>
  <PresentationFormat>Широкоэкранный</PresentationFormat>
  <Paragraphs>48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Afonasyev</dc:creator>
  <cp:lastModifiedBy>Andrey Afonasyev</cp:lastModifiedBy>
  <cp:revision>26</cp:revision>
  <dcterms:created xsi:type="dcterms:W3CDTF">2026-03-22T14:30:19Z</dcterms:created>
  <dcterms:modified xsi:type="dcterms:W3CDTF">2026-03-25T11:58:27Z</dcterms:modified>
</cp:coreProperties>
</file>