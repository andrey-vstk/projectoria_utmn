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879"/>
                </a:solidFill>
                <a:latin typeface="Helvetica Neue"/>
              </a:defRPr>
            </a:pPr>
            <a:r>
              <a:t>Проектория • ТюмГУ •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34440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A202C"/>
                </a:solidFill>
                <a:latin typeface="Helvetica Neue"/>
              </a:defRPr>
            </a:pPr>
            <a:r>
              <a:t>Проектория</a:t>
            </a:r>
          </a:p>
          <a:p>
            <a:pPr>
              <a:defRPr sz="1700">
                <a:solidFill>
                  <a:srgbClr val="5B6879"/>
                </a:solidFill>
                <a:latin typeface="Helvetica Neue"/>
              </a:defRPr>
            </a:pPr>
            <a:r>
              <a:t>ВКР: «Проектирование веб-системы поддержки формирования межподразделенческих</a:t>
            </a:r>
            <a:br/>
            <a:r>
              <a:t>университетских проектов по текстовым запросам индустрии»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AAA"/>
                </a:solidFill>
                <a:latin typeface="Helvetica Neue"/>
              </a:defRPr>
            </a:pPr>
            <a:r>
              <a:t>Результат практики: полнофункциональный MVP разработан с нуля</a:t>
            </a:r>
          </a:p>
          <a:p>
            <a:pPr>
              <a:spcBef>
                <a:spcPts val="1800"/>
              </a:spcBef>
              <a:defRPr sz="1700">
                <a:solidFill>
                  <a:srgbClr val="5B6879"/>
                </a:solidFill>
                <a:latin typeface="Helvetica Neue"/>
              </a:defRPr>
            </a:pPr>
            <a:r>
              <a:t>Студент: ____________________      Руководитель: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879"/>
                </a:solidFill>
                <a:latin typeface="Helvetica Neue"/>
              </a:defRPr>
            </a:pPr>
            <a:r>
              <a:t>Проектория • ТюмГУ •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A202C"/>
                </a:solidFill>
                <a:latin typeface="Helvetica Neue"/>
              </a:defRPr>
            </a:pPr>
            <a:r>
              <a:t>Актуальность и 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71323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202C"/>
                </a:solidFill>
                <a:latin typeface="Helvetica Neue"/>
              </a:defRPr>
            </a:pPr>
            <a:r>
              <a:t>Запросы индустрии приходят в виде неструктурированных стенограмм и описаний.</a:t>
            </a:r>
          </a:p>
          <a:p>
            <a:pPr>
              <a:spcAft>
                <a:spcPts val="1000"/>
              </a:spcAft>
              <a:defRPr sz="2200">
                <a:solidFill>
                  <a:srgbClr val="1A202C"/>
                </a:solidFill>
                <a:latin typeface="Helvetica Neue"/>
              </a:defRPr>
            </a:pPr>
            <a:r>
              <a:t>Маршрутизация между подразделениями часто выполняется вручную.</a:t>
            </a:r>
          </a:p>
          <a:p>
            <a:pPr>
              <a:spcAft>
                <a:spcPts val="1000"/>
              </a:spcAft>
              <a:defRPr sz="2200">
                <a:solidFill>
                  <a:srgbClr val="1A202C"/>
                </a:solidFill>
                <a:latin typeface="Helvetica Neue"/>
              </a:defRPr>
            </a:pPr>
            <a:r>
              <a:t>Теряется контекст, увеличивается время реакции университета.</a:t>
            </a:r>
          </a:p>
          <a:p>
            <a:pPr>
              <a:spcAft>
                <a:spcPts val="1000"/>
              </a:spcAft>
              <a:defRPr sz="2200">
                <a:solidFill>
                  <a:srgbClr val="1A202C"/>
                </a:solidFill>
                <a:latin typeface="Helvetica Neue"/>
              </a:defRPr>
            </a:pPr>
            <a:r>
              <a:t>Нет прозрачной воронки: от запроса до отклика подразделений.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645920"/>
            <a:ext cx="3474720" cy="4389120"/>
          </a:xfrm>
          <a:prstGeom prst="roundRect">
            <a:avLst/>
          </a:prstGeom>
          <a:solidFill>
            <a:srgbClr val="F2FBF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39328" y="1847088"/>
            <a:ext cx="30723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07AAA"/>
                </a:solidFill>
                <a:latin typeface="Helvetica Neue"/>
              </a:defRPr>
            </a:pPr>
            <a:r>
              <a:t>Ценность решения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8" y="2423160"/>
            <a:ext cx="3072384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202C"/>
                </a:solidFill>
                <a:latin typeface="Helvetica Neue"/>
              </a:defRPr>
            </a:pPr>
            <a:r>
              <a:t>• Ускорение отбора релевантных направлений</a:t>
            </a:r>
          </a:p>
          <a:p>
            <a:pPr>
              <a:spcAft>
                <a:spcPts val="600"/>
              </a:spcAft>
              <a:defRPr sz="1500">
                <a:solidFill>
                  <a:srgbClr val="1A202C"/>
                </a:solidFill>
                <a:latin typeface="Helvetica Neue"/>
              </a:defRPr>
            </a:pPr>
            <a:r>
              <a:t>• Единая цифровая история по каждому проекту</a:t>
            </a:r>
          </a:p>
          <a:p>
            <a:pPr>
              <a:spcAft>
                <a:spcPts val="600"/>
              </a:spcAft>
              <a:defRPr sz="1500">
                <a:solidFill>
                  <a:srgbClr val="1A202C"/>
                </a:solidFill>
                <a:latin typeface="Helvetica Neue"/>
              </a:defRPr>
            </a:pPr>
            <a:r>
              <a:t>• Повышение управляемости межподразделенческого взаимодействия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879"/>
                </a:solidFill>
                <a:latin typeface="Helvetica Neue"/>
              </a:defRPr>
            </a:pPr>
            <a:r>
              <a:t>Проектория • ТюмГУ •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A202C"/>
                </a:solidFill>
                <a:latin typeface="Helvetica Neue"/>
              </a:defRPr>
            </a:pPr>
            <a:r>
              <a:t>Цель и задачи практики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A202C"/>
                </a:solidFill>
                <a:latin typeface="Helvetica Neue"/>
              </a:defRPr>
            </a:pPr>
            <a:r>
              <a:t>Цель: спроектировать и реализовать MVP веб-системы для запуска межподразделенческих проектов.</a:t>
            </a:r>
          </a:p>
          <a:p>
            <a:pPr>
              <a:spcAft>
                <a:spcPts val="1000"/>
              </a:spcAft>
              <a:defRPr sz="2000">
                <a:solidFill>
                  <a:srgbClr val="1A202C"/>
                </a:solidFill>
                <a:latin typeface="Helvetica Neue"/>
              </a:defRPr>
            </a:pPr>
            <a:r>
              <a:t>Задача 1: построить безопасный веб-сервис с ролевой моделью.</a:t>
            </a:r>
          </a:p>
          <a:p>
            <a:pPr>
              <a:spcAft>
                <a:spcPts val="1000"/>
              </a:spcAft>
              <a:defRPr sz="2000">
                <a:solidFill>
                  <a:srgbClr val="1A202C"/>
                </a:solidFill>
                <a:latin typeface="Helvetica Neue"/>
              </a:defRPr>
            </a:pPr>
            <a:r>
              <a:t>Задача 2: реализовать асинхронный LLM-пайплайн с контролем статусов.</a:t>
            </a:r>
          </a:p>
          <a:p>
            <a:pPr>
              <a:spcAft>
                <a:spcPts val="1000"/>
              </a:spcAft>
              <a:defRPr sz="2000">
                <a:solidFill>
                  <a:srgbClr val="1A202C"/>
                </a:solidFill>
                <a:latin typeface="Helvetica Neue"/>
              </a:defRPr>
            </a:pPr>
            <a:r>
              <a:t>Задача 3: организовать подтверждаемую рассылку и фиксацию откликов.</a:t>
            </a:r>
          </a:p>
          <a:p>
            <a:pPr>
              <a:spcAft>
                <a:spcPts val="1000"/>
              </a:spcAft>
              <a:defRPr sz="2000">
                <a:solidFill>
                  <a:srgbClr val="1A202C"/>
                </a:solidFill>
                <a:latin typeface="Helvetica Neue"/>
              </a:defRPr>
            </a:pPr>
            <a:r>
              <a:t>Задача 4: обеспечить админ-управление пользователями и подразделениями.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879"/>
                </a:solidFill>
                <a:latin typeface="Helvetica Neue"/>
              </a:defRPr>
            </a:pPr>
            <a:r>
              <a:t>Проектория • ТюмГУ •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A202C"/>
                </a:solidFill>
                <a:latin typeface="Helvetica Neue"/>
              </a:defRPr>
            </a:pPr>
            <a:r>
              <a:t>Что реализовано с нуля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37360"/>
            <a:ext cx="5440680" cy="4389120"/>
          </a:xfrm>
          <a:prstGeom prst="roundRect">
            <a:avLst/>
          </a:prstGeom>
          <a:solidFill>
            <a:srgbClr val="F2FBF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38528"/>
            <a:ext cx="50383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07AAA"/>
                </a:solidFill>
                <a:latin typeface="Helvetica Neue"/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514600"/>
            <a:ext cx="5038344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202C"/>
                </a:solidFill>
                <a:latin typeface="Helvetica Neue"/>
              </a:defRPr>
            </a:pPr>
            <a:r>
              <a:t>• NestJS API + Prisma + PostgreSQL</a:t>
            </a:r>
          </a:p>
          <a:p>
            <a:pPr>
              <a:spcAft>
                <a:spcPts val="600"/>
              </a:spcAft>
              <a:defRPr sz="1500">
                <a:solidFill>
                  <a:srgbClr val="1A202C"/>
                </a:solidFill>
                <a:latin typeface="Helvetica Neue"/>
              </a:defRPr>
            </a:pPr>
            <a:r>
              <a:t>• JWT в httpOnly cookie, RBAC (admin/initiator)</a:t>
            </a:r>
          </a:p>
          <a:p>
            <a:pPr>
              <a:spcAft>
                <a:spcPts val="600"/>
              </a:spcAft>
              <a:defRPr sz="1500">
                <a:solidFill>
                  <a:srgbClr val="1A202C"/>
                </a:solidFill>
                <a:latin typeface="Helvetica Neue"/>
              </a:defRPr>
            </a:pPr>
            <a:r>
              <a:t>• BullMQ + Redis для фоновых задач</a:t>
            </a:r>
          </a:p>
          <a:p>
            <a:pPr>
              <a:spcAft>
                <a:spcPts val="600"/>
              </a:spcAft>
              <a:defRPr sz="1500">
                <a:solidFill>
                  <a:srgbClr val="1A202C"/>
                </a:solidFill>
                <a:latin typeface="Helvetica Neue"/>
              </a:defRPr>
            </a:pPr>
            <a:r>
              <a:t>• SMTP-рассылка и публичный endpoint отклика</a:t>
            </a:r>
          </a:p>
          <a:p>
            <a:pPr>
              <a:spcAft>
                <a:spcPts val="600"/>
              </a:spcAft>
              <a:defRPr sz="1500">
                <a:solidFill>
                  <a:srgbClr val="1A202C"/>
                </a:solidFill>
                <a:latin typeface="Helvetica Neue"/>
              </a:defRPr>
            </a:pPr>
            <a:r>
              <a:t>• Интеграция с n8n (webhook + REST контракт)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737360"/>
            <a:ext cx="4937760" cy="4389120"/>
          </a:xfrm>
          <a:prstGeom prst="roundRect">
            <a:avLst/>
          </a:prstGeom>
          <a:solidFill>
            <a:srgbClr val="F2FBF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6248" y="1938528"/>
            <a:ext cx="45354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07AAA"/>
                </a:solidFill>
                <a:latin typeface="Helvetica Neue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2514600"/>
            <a:ext cx="4535424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202C"/>
                </a:solidFill>
                <a:latin typeface="Helvetica Neue"/>
              </a:defRPr>
            </a:pPr>
            <a:r>
              <a:t>• Next.js интерфейс на русском языке</a:t>
            </a:r>
          </a:p>
          <a:p>
            <a:pPr>
              <a:spcAft>
                <a:spcPts val="600"/>
              </a:spcAft>
              <a:defRPr sz="1500">
                <a:solidFill>
                  <a:srgbClr val="1A202C"/>
                </a:solidFill>
                <a:latin typeface="Helvetica Neue"/>
              </a:defRPr>
            </a:pPr>
            <a:r>
              <a:t>• Страницы: логин, проекты, карточка проекта, отклики, админка</a:t>
            </a:r>
          </a:p>
          <a:p>
            <a:pPr>
              <a:spcAft>
                <a:spcPts val="600"/>
              </a:spcAft>
              <a:defRPr sz="1500">
                <a:solidFill>
                  <a:srgbClr val="1A202C"/>
                </a:solidFill>
                <a:latin typeface="Helvetica Neue"/>
              </a:defRPr>
            </a:pPr>
            <a:r>
              <a:t>• Ручная проверка/редактирование писем перед отправкой</a:t>
            </a:r>
          </a:p>
          <a:p>
            <a:pPr>
              <a:spcAft>
                <a:spcPts val="600"/>
              </a:spcAft>
              <a:defRPr sz="1500">
                <a:solidFill>
                  <a:srgbClr val="1A202C"/>
                </a:solidFill>
                <a:latin typeface="Helvetica Neue"/>
              </a:defRPr>
            </a:pPr>
            <a:r>
              <a:t>• Дизайн-система в фирменном стиле ТюмГУ (#00AEEF)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879"/>
                </a:solidFill>
                <a:latin typeface="Helvetica Neue"/>
              </a:defRPr>
            </a:pPr>
            <a:r>
              <a:t>Проектория • ТюмГУ •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A202C"/>
                </a:solidFill>
                <a:latin typeface="Helvetica Neue"/>
              </a:defRPr>
            </a:pPr>
            <a:r>
              <a:t>Архитектура MVP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74519"/>
            <a:ext cx="1965960" cy="914400"/>
          </a:xfrm>
          <a:prstGeom prst="roundRect">
            <a:avLst/>
          </a:prstGeom>
          <a:solidFill>
            <a:srgbClr val="F2FBF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7" y="213055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02C"/>
                </a:solidFill>
                <a:latin typeface="Helvetica Neue"/>
              </a:defRPr>
            </a:pPr>
            <a:r>
              <a:t>Web (Next.js)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1874519"/>
            <a:ext cx="1965960" cy="914400"/>
          </a:xfrm>
          <a:prstGeom prst="roundRect">
            <a:avLst/>
          </a:prstGeom>
          <a:solidFill>
            <a:srgbClr val="F2FBF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87368" y="213055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02C"/>
                </a:solidFill>
                <a:latin typeface="Helvetica Neue"/>
              </a:defRPr>
            </a:pPr>
            <a:r>
              <a:t>API (NestJS)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874519"/>
            <a:ext cx="1965960" cy="914400"/>
          </a:xfrm>
          <a:prstGeom prst="roundRect">
            <a:avLst/>
          </a:prstGeom>
          <a:solidFill>
            <a:srgbClr val="F2FBF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96328" y="213055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02C"/>
                </a:solidFill>
                <a:latin typeface="Helvetica Neue"/>
              </a:defRPr>
            </a:pPr>
            <a:r>
              <a:t>n8n + Ollama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1874519"/>
            <a:ext cx="1965960" cy="914400"/>
          </a:xfrm>
          <a:prstGeom prst="roundRect">
            <a:avLst/>
          </a:prstGeom>
          <a:solidFill>
            <a:srgbClr val="F2FBF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68128" y="213055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02C"/>
                </a:solidFill>
                <a:latin typeface="Helvetica Neue"/>
              </a:defRPr>
            </a:pPr>
            <a:r>
              <a:t>SMTP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388620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07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2928" y="4142232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02C"/>
                </a:solidFill>
                <a:latin typeface="Helvetica Neue"/>
              </a:defRPr>
            </a:pPr>
            <a:r>
              <a:t>PostgreSQL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388620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07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96128" y="4142232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02C"/>
                </a:solidFill>
                <a:latin typeface="Helvetica Neue"/>
              </a:defRPr>
            </a:pPr>
            <a:r>
              <a:t>Redis/BullMQ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388620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07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4142232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02C"/>
                </a:solidFill>
                <a:latin typeface="Helvetica Neue"/>
              </a:defRPr>
            </a:pPr>
            <a:r>
              <a:t>Хранилище</a:t>
            </a:r>
          </a:p>
          <a:p>
            <a:r>
              <a:t>сущностей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2578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AA"/>
                </a:solidFill>
                <a:latin typeface="Helvetica Neue"/>
              </a:defRPr>
            </a:pPr>
            <a:r>
              <a:t>Поток: пользователь → API → очередь → LLM/n8n → результат → ручное подтверждение → рассылка → отклики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879"/>
                </a:solidFill>
                <a:latin typeface="Helvetica Neue"/>
              </a:defRPr>
            </a:pPr>
            <a:r>
              <a:t>Проектория • ТюмГУ •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A202C"/>
                </a:solidFill>
                <a:latin typeface="Helvetica Neue"/>
              </a:defRPr>
            </a:pPr>
            <a:r>
              <a:t>Сквозной бизнес-сценарий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A202C"/>
                </a:solidFill>
                <a:latin typeface="Helvetica Neue"/>
              </a:defRPr>
            </a:pPr>
            <a:r>
              <a:t>1. Инициатор создает проект и загружает текст</a:t>
            </a:r>
          </a:p>
          <a:p>
            <a:pPr>
              <a:spcAft>
                <a:spcPts val="1000"/>
              </a:spcAft>
              <a:defRPr sz="2000">
                <a:solidFill>
                  <a:srgbClr val="1A202C"/>
                </a:solidFill>
                <a:latin typeface="Helvetica Neue"/>
              </a:defRPr>
            </a:pPr>
            <a:r>
              <a:t>2. Запускается анализ (асинхронная задача)</a:t>
            </a:r>
          </a:p>
          <a:p>
            <a:pPr>
              <a:spcAft>
                <a:spcPts val="1000"/>
              </a:spcAft>
              <a:defRPr sz="2000">
                <a:solidFill>
                  <a:srgbClr val="1A202C"/>
                </a:solidFill>
                <a:latin typeface="Helvetica Neue"/>
              </a:defRPr>
            </a:pPr>
            <a:r>
              <a:t>3. LLM формирует summary, задачи и письма по подразделениям</a:t>
            </a:r>
          </a:p>
          <a:p>
            <a:pPr>
              <a:spcAft>
                <a:spcPts val="1000"/>
              </a:spcAft>
              <a:defRPr sz="2000">
                <a:solidFill>
                  <a:srgbClr val="1A202C"/>
                </a:solidFill>
                <a:latin typeface="Helvetica Neue"/>
              </a:defRPr>
            </a:pPr>
            <a:r>
              <a:t>4. Инициатор проверяет и редактирует предложения</a:t>
            </a:r>
          </a:p>
          <a:p>
            <a:pPr>
              <a:spcAft>
                <a:spcPts val="1000"/>
              </a:spcAft>
              <a:defRPr sz="2000">
                <a:solidFill>
                  <a:srgbClr val="1A202C"/>
                </a:solidFill>
                <a:latin typeface="Helvetica Neue"/>
              </a:defRPr>
            </a:pPr>
            <a:r>
              <a:t>5. Подтверждает рассылку и отправку писем</a:t>
            </a:r>
          </a:p>
          <a:p>
            <a:pPr>
              <a:spcAft>
                <a:spcPts val="1000"/>
              </a:spcAft>
              <a:defRPr sz="2000">
                <a:solidFill>
                  <a:srgbClr val="1A202C"/>
                </a:solidFill>
                <a:latin typeface="Helvetica Neue"/>
              </a:defRPr>
            </a:pPr>
            <a:r>
              <a:t>6. Подразделения откликаются по уникальной ссылке</a:t>
            </a:r>
          </a:p>
          <a:p>
            <a:pPr>
              <a:spcAft>
                <a:spcPts val="1000"/>
              </a:spcAft>
              <a:defRPr sz="2000">
                <a:solidFill>
                  <a:srgbClr val="1A202C"/>
                </a:solidFill>
                <a:latin typeface="Helvetica Neue"/>
              </a:defRPr>
            </a:pPr>
            <a:r>
              <a:t>7. Инициатор получает уведомление и видит отклики в карточке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879"/>
                </a:solidFill>
                <a:latin typeface="Helvetica Neue"/>
              </a:defRPr>
            </a:pPr>
            <a:r>
              <a:t>Проектория • ТюмГУ •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A202C"/>
                </a:solidFill>
                <a:latin typeface="Helvetica Neue"/>
              </a:defRPr>
            </a:pPr>
            <a:r>
              <a:t>Итоги практики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37360"/>
            <a:ext cx="2743200" cy="1371600"/>
          </a:xfrm>
          <a:prstGeom prst="roundRect">
            <a:avLst/>
          </a:prstGeom>
          <a:solidFill>
            <a:srgbClr val="F2FBF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20240"/>
            <a:ext cx="2340864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879"/>
                </a:solidFill>
                <a:latin typeface="Helvetica Neue"/>
              </a:defRPr>
            </a:pPr>
            <a:r>
              <a:t>Собранных сервисов</a:t>
            </a:r>
          </a:p>
          <a:p>
            <a:pPr>
              <a:defRPr b="1" sz="2700">
                <a:solidFill>
                  <a:srgbClr val="007AAA"/>
                </a:solidFill>
                <a:latin typeface="Helvetica Neue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737360"/>
            <a:ext cx="2743200" cy="1371600"/>
          </a:xfrm>
          <a:prstGeom prst="roundRect">
            <a:avLst/>
          </a:prstGeom>
          <a:solidFill>
            <a:srgbClr val="F2FBF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41648" y="1920240"/>
            <a:ext cx="2340864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879"/>
                </a:solidFill>
                <a:latin typeface="Helvetica Neue"/>
              </a:defRPr>
            </a:pPr>
            <a:r>
              <a:t>Ключевых сущностей БД</a:t>
            </a:r>
          </a:p>
          <a:p>
            <a:pPr>
              <a:defRPr b="1" sz="2700">
                <a:solidFill>
                  <a:srgbClr val="007AAA"/>
                </a:solidFill>
                <a:latin typeface="Helvetica Neue"/>
              </a:defRPr>
            </a:pPr>
            <a:r>
              <a:t>10+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737360"/>
            <a:ext cx="2743200" cy="1371600"/>
          </a:xfrm>
          <a:prstGeom prst="roundRect">
            <a:avLst/>
          </a:prstGeom>
          <a:solidFill>
            <a:srgbClr val="F2FBF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13448" y="1920240"/>
            <a:ext cx="2340864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879"/>
                </a:solidFill>
                <a:latin typeface="Helvetica Neue"/>
              </a:defRPr>
            </a:pPr>
            <a:r>
              <a:t>Ролевых сценариев</a:t>
            </a:r>
          </a:p>
          <a:p>
            <a:pPr>
              <a:defRPr b="1" sz="2700">
                <a:solidFill>
                  <a:srgbClr val="007AAA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1737360"/>
            <a:ext cx="2743200" cy="1371600"/>
          </a:xfrm>
          <a:prstGeom prst="roundRect">
            <a:avLst/>
          </a:prstGeom>
          <a:solidFill>
            <a:srgbClr val="F2FBF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85248" y="1920240"/>
            <a:ext cx="2340864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879"/>
                </a:solidFill>
                <a:latin typeface="Helvetica Neue"/>
              </a:defRPr>
            </a:pPr>
            <a:r>
              <a:t>Сквозных потоков</a:t>
            </a:r>
          </a:p>
          <a:p>
            <a:pPr>
              <a:defRPr b="1" sz="2700">
                <a:solidFill>
                  <a:srgbClr val="007AAA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66160"/>
            <a:ext cx="107899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A202C"/>
                </a:solidFill>
                <a:latin typeface="Helvetica Neue"/>
              </a:defRPr>
            </a:pPr>
            <a:r>
              <a:t>Разработан production-minded каркас: backend, frontend, БД, очереди, интеграции, Docker.</a:t>
            </a:r>
          </a:p>
          <a:p>
            <a:pPr>
              <a:spcAft>
                <a:spcPts val="1000"/>
              </a:spcAft>
              <a:defRPr sz="2000">
                <a:solidFill>
                  <a:srgbClr val="1A202C"/>
                </a:solidFill>
                <a:latin typeface="Helvetica Neue"/>
              </a:defRPr>
            </a:pPr>
            <a:r>
              <a:t>Реализована прозрачная история: запрос → анализ → рассылка → отклики.</a:t>
            </a:r>
          </a:p>
          <a:p>
            <a:pPr>
              <a:spcAft>
                <a:spcPts val="1000"/>
              </a:spcAft>
              <a:defRPr sz="2000">
                <a:solidFill>
                  <a:srgbClr val="1A202C"/>
                </a:solidFill>
                <a:latin typeface="Helvetica Neue"/>
              </a:defRPr>
            </a:pPr>
            <a:r>
              <a:t>Подготовлен фундамент для масштабирования в рамках ВКР.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879"/>
                </a:solidFill>
                <a:latin typeface="Helvetica Neue"/>
              </a:defRPr>
            </a:pPr>
            <a:r>
              <a:t>Проектория • ТюмГУ •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A202C"/>
                </a:solidFill>
                <a:latin typeface="Helvetica Neue"/>
              </a:defRPr>
            </a:pPr>
            <a:r>
              <a:t>Новизна и развитие в ВКР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A202C"/>
                </a:solidFill>
                <a:latin typeface="Helvetica Neue"/>
              </a:defRPr>
            </a:pPr>
            <a:r>
              <a:t>Комбинация LLM-декомпозиции и управляемого межподразделенческого роутинга в единой системе.</a:t>
            </a:r>
          </a:p>
          <a:p>
            <a:pPr>
              <a:spcAft>
                <a:spcPts val="1000"/>
              </a:spcAft>
              <a:defRPr sz="1900">
                <a:solidFill>
                  <a:srgbClr val="1A202C"/>
                </a:solidFill>
                <a:latin typeface="Helvetica Neue"/>
              </a:defRPr>
            </a:pPr>
            <a:r>
              <a:t>Человек в контуре: обязательная ручная валидация перед коммуникацией.</a:t>
            </a:r>
          </a:p>
          <a:p>
            <a:pPr>
              <a:spcAft>
                <a:spcPts val="1000"/>
              </a:spcAft>
              <a:defRPr sz="1900">
                <a:solidFill>
                  <a:srgbClr val="1A202C"/>
                </a:solidFill>
                <a:latin typeface="Helvetica Neue"/>
              </a:defRPr>
            </a:pPr>
            <a:r>
              <a:t>Готовность к локальной модели: замена провайдера без смены бизнес-логики.</a:t>
            </a:r>
          </a:p>
          <a:p>
            <a:pPr>
              <a:spcAft>
                <a:spcPts val="1000"/>
              </a:spcAft>
              <a:defRPr sz="1900">
                <a:solidFill>
                  <a:srgbClr val="1A202C"/>
                </a:solidFill>
                <a:latin typeface="Helvetica Neue"/>
              </a:defRPr>
            </a:pPr>
            <a:r>
              <a:t>Следующий этап ВКР: метрики качества роутинга, оценка точности и производительности.</a:t>
            </a:r>
          </a:p>
          <a:p>
            <a:pPr>
              <a:spcAft>
                <a:spcPts val="1000"/>
              </a:spcAft>
              <a:defRPr sz="1900">
                <a:solidFill>
                  <a:srgbClr val="1A202C"/>
                </a:solidFill>
                <a:latin typeface="Helvetica Neue"/>
              </a:defRPr>
            </a:pPr>
            <a:r>
              <a:t>План развития: SSO/LDAP, корпоративный почтовый шлюз, аналитика воронки, SLA-мониторинг.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879"/>
                </a:solidFill>
                <a:latin typeface="Helvetica Neue"/>
              </a:defRPr>
            </a:pPr>
            <a:r>
              <a:t>Проектория • ТюмГУ •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8755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5200">
                <a:solidFill>
                  <a:srgbClr val="FFFFFF"/>
                </a:solidFill>
                <a:latin typeface="Helvetica Neue"/>
              </a:defRPr>
            </a:pPr>
            <a:r>
              <a:t>Спасибо за внимание</a:t>
            </a:r>
          </a:p>
          <a:p>
            <a:pPr algn="ctr">
              <a:spcBef>
                <a:spcPts val="1400"/>
              </a:spcBef>
              <a:defRPr sz="2200">
                <a:solidFill>
                  <a:srgbClr val="FFFFFF"/>
                </a:solidFill>
                <a:latin typeface="Helvetica Neue"/>
              </a:defRPr>
            </a:pPr>
            <a:r>
              <a:t>Готовы к демонстрации «Проектории» и ответам на вопросы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